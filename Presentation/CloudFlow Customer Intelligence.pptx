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ans Bold" charset="1" panose="00000000000000000000"/>
      <p:regular r:id="rId18"/>
    </p:embeddedFont>
    <p:embeddedFont>
      <p:font typeface="Montserrat Bold" charset="1" panose="00000800000000000000"/>
      <p:regular r:id="rId19"/>
    </p:embeddedFont>
    <p:embeddedFont>
      <p:font typeface="DM Sans" charset="1" panose="00000000000000000000"/>
      <p:regular r:id="rId20"/>
    </p:embeddedFont>
    <p:embeddedFont>
      <p:font typeface="DM Sans Italic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049000" y="0"/>
            <a:ext cx="0" cy="1028700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2049125" y="0"/>
            <a:ext cx="0" cy="1028700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3049250" y="0"/>
            <a:ext cx="0" cy="1028700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4049375" y="0"/>
            <a:ext cx="0" cy="1028700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5049500" y="0"/>
            <a:ext cx="0" cy="1028700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049625" y="0"/>
            <a:ext cx="0" cy="1028700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049750" y="0"/>
            <a:ext cx="0" cy="1028700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1049000" y="1143000"/>
            <a:ext cx="7239000" cy="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049000" y="2667000"/>
            <a:ext cx="7239000" cy="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049000" y="4191000"/>
            <a:ext cx="7239000" cy="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049000" y="5715000"/>
            <a:ext cx="7239000" cy="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1049000" y="7239000"/>
            <a:ext cx="7239000" cy="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1049000" y="8763000"/>
            <a:ext cx="7239000" cy="0"/>
          </a:xfrm>
          <a:prstGeom prst="line">
            <a:avLst/>
          </a:prstGeom>
          <a:ln cap="flat" w="9525">
            <a:solidFill>
              <a:srgbClr val="2440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14400" y="1409700"/>
            <a:ext cx="7239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48E27B"/>
                </a:solidFill>
                <a:latin typeface="DM Sans Bold"/>
                <a:ea typeface="DM Sans Bold"/>
                <a:cs typeface="DM Sans Bold"/>
                <a:sym typeface="DM Sans Bold"/>
              </a:rPr>
              <a:t>EXCEL-BASED CAPSTONE PROJECT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9625" y="2141982"/>
            <a:ext cx="11239500" cy="247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630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CloudFlow SaaS</a:t>
            </a:r>
          </a:p>
          <a:p>
            <a:pPr algn="l">
              <a:lnSpc>
                <a:spcPts val="6426"/>
              </a:lnSpc>
            </a:pPr>
            <a:r>
              <a:rPr lang="en-US" sz="630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Intelligence</a:t>
            </a:r>
          </a:p>
          <a:p>
            <a:pPr algn="l">
              <a:lnSpc>
                <a:spcPts val="6426"/>
              </a:lnSpc>
            </a:pPr>
            <a:r>
              <a:rPr lang="en-US" sz="630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5486400"/>
            <a:ext cx="100012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Customer Retention, Revenue, Acquisition &amp; Lifetime Value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7372350"/>
            <a:ext cx="37724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9AA8B8"/>
                </a:solidFill>
                <a:latin typeface="DM Sans"/>
                <a:ea typeface="DM Sans"/>
                <a:cs typeface="DM Sans"/>
                <a:sym typeface="DM Sans"/>
              </a:rPr>
              <a:t>Nitin Prasad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68250" y="8540115"/>
            <a:ext cx="4381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b="true" sz="1350" spc="108">
                <a:solidFill>
                  <a:srgbClr val="F5F7FA"/>
                </a:solidFill>
                <a:latin typeface="DM Sans Bold"/>
                <a:ea typeface="DM Sans Bold"/>
                <a:cs typeface="DM Sans Bold"/>
                <a:sym typeface="DM Sans Bold"/>
              </a:rPr>
              <a:t>ANALYSIS PERIOD  /  2023–2025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" y="6858000"/>
            <a:ext cx="1047750" cy="47625"/>
            <a:chOff x="0" y="0"/>
            <a:chExt cx="1397000" cy="63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7000" cy="63500"/>
            </a:xfrm>
            <a:custGeom>
              <a:avLst/>
              <a:gdLst/>
              <a:ahLst/>
              <a:cxnLst/>
              <a:rect r="r" b="b" t="t" l="l"/>
              <a:pathLst>
                <a:path h="635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48E27B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97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23900"/>
            <a:ext cx="9525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571625"/>
            <a:ext cx="1428750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AA8B8"/>
                </a:solidFill>
                <a:latin typeface="DM Sans"/>
                <a:ea typeface="DM Sans"/>
                <a:cs typeface="DM Sans"/>
                <a:sym typeface="DM Sans"/>
              </a:rPr>
              <a:t>CloudFlow is an India-based SaaS business delivering subscription services to businesses. Management needs a sharper view of customer behavior across the lifecycle.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238500"/>
            <a:ext cx="5029200" cy="4000500"/>
            <a:chOff x="0" y="0"/>
            <a:chExt cx="6705600" cy="5334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705600" cy="5334000"/>
              <a:chOff x="0" y="0"/>
              <a:chExt cx="6705600" cy="5334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705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5305136"/>
                    </a:lnTo>
                    <a:cubicBezTo>
                      <a:pt x="6705600" y="5312792"/>
                      <a:pt x="6702559" y="5320133"/>
                      <a:pt x="6697146" y="5325546"/>
                    </a:cubicBezTo>
                    <a:cubicBezTo>
                      <a:pt x="6691733" y="5330959"/>
                      <a:pt x="6684391" y="5334000"/>
                      <a:pt x="6676737" y="5334000"/>
                    </a:cubicBezTo>
                    <a:lnTo>
                      <a:pt x="28864" y="5334000"/>
                    </a:lnTo>
                    <a:cubicBezTo>
                      <a:pt x="21209" y="5334000"/>
                      <a:pt x="13867" y="5330959"/>
                      <a:pt x="8454" y="5325546"/>
                    </a:cubicBezTo>
                    <a:cubicBezTo>
                      <a:pt x="3041" y="5320133"/>
                      <a:pt x="0" y="5312792"/>
                      <a:pt x="0" y="5305136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619125"/>
              <a:ext cx="1270000" cy="798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43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885950"/>
              <a:ext cx="5715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31800" y="2641600"/>
              <a:ext cx="5588000" cy="516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</a:pPr>
              <a:r>
                <a:rPr lang="en-US" sz="2550" b="true">
                  <a:solidFill>
                    <a:srgbClr val="F5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Who are our customers?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00800" y="3238500"/>
            <a:ext cx="5029200" cy="4000500"/>
            <a:chOff x="0" y="0"/>
            <a:chExt cx="6705600" cy="5334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705600" cy="5334000"/>
              <a:chOff x="0" y="0"/>
              <a:chExt cx="6705600" cy="5334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705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5305136"/>
                    </a:lnTo>
                    <a:cubicBezTo>
                      <a:pt x="6705600" y="5312792"/>
                      <a:pt x="6702559" y="5320133"/>
                      <a:pt x="6697146" y="5325546"/>
                    </a:cubicBezTo>
                    <a:cubicBezTo>
                      <a:pt x="6691733" y="5330959"/>
                      <a:pt x="6684391" y="5334000"/>
                      <a:pt x="6676737" y="5334000"/>
                    </a:cubicBezTo>
                    <a:lnTo>
                      <a:pt x="28864" y="5334000"/>
                    </a:lnTo>
                    <a:cubicBezTo>
                      <a:pt x="21209" y="5334000"/>
                      <a:pt x="13867" y="5330959"/>
                      <a:pt x="8454" y="5325546"/>
                    </a:cubicBezTo>
                    <a:cubicBezTo>
                      <a:pt x="3041" y="5320133"/>
                      <a:pt x="0" y="5312792"/>
                      <a:pt x="0" y="5305136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619125"/>
              <a:ext cx="1270000" cy="798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43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885950"/>
              <a:ext cx="5715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RETENTION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31800" y="2641600"/>
              <a:ext cx="5588000" cy="1024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</a:pPr>
              <a:r>
                <a:rPr lang="en-US" sz="2550" b="true">
                  <a:solidFill>
                    <a:srgbClr val="F5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Who stays and who churns?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3238500"/>
            <a:ext cx="5029200" cy="4000500"/>
            <a:chOff x="0" y="0"/>
            <a:chExt cx="6705600" cy="5334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705600" cy="5334000"/>
              <a:chOff x="0" y="0"/>
              <a:chExt cx="6705600" cy="5334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705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5305136"/>
                    </a:lnTo>
                    <a:cubicBezTo>
                      <a:pt x="6705600" y="5312792"/>
                      <a:pt x="6702559" y="5320133"/>
                      <a:pt x="6697146" y="5325546"/>
                    </a:cubicBezTo>
                    <a:cubicBezTo>
                      <a:pt x="6691733" y="5330959"/>
                      <a:pt x="6684391" y="5334000"/>
                      <a:pt x="6676737" y="5334000"/>
                    </a:cubicBezTo>
                    <a:lnTo>
                      <a:pt x="28864" y="5334000"/>
                    </a:lnTo>
                    <a:cubicBezTo>
                      <a:pt x="21209" y="5334000"/>
                      <a:pt x="13867" y="5330959"/>
                      <a:pt x="8454" y="5325546"/>
                    </a:cubicBezTo>
                    <a:cubicBezTo>
                      <a:pt x="3041" y="5320133"/>
                      <a:pt x="0" y="5312792"/>
                      <a:pt x="0" y="5305136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619125"/>
              <a:ext cx="1270000" cy="798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43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885950"/>
              <a:ext cx="5715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VALUE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31800" y="2641600"/>
              <a:ext cx="5588000" cy="922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3"/>
                </a:lnSpc>
              </a:pPr>
              <a:r>
                <a:rPr lang="en-US" sz="2325" b="true">
                  <a:solidFill>
                    <a:srgbClr val="F5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Which customers generate long-term value?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9615488"/>
            <a:ext cx="16459200" cy="309562"/>
            <a:chOff x="0" y="0"/>
            <a:chExt cx="21945600" cy="412750"/>
          </a:xfrm>
        </p:grpSpPr>
        <p:sp>
          <p:nvSpPr>
            <p:cNvPr name="AutoShape 23" id="23"/>
            <p:cNvSpPr/>
            <p:nvPr/>
          </p:nvSpPr>
          <p:spPr>
            <a:xfrm>
              <a:off x="0" y="6350"/>
              <a:ext cx="21945600" cy="0"/>
            </a:xfrm>
            <a:prstGeom prst="line">
              <a:avLst/>
            </a:prstGeom>
            <a:ln cap="flat" w="12700">
              <a:solidFill>
                <a:srgbClr val="24405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165100"/>
              <a:ext cx="88900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spc="13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CLOUDFLOW  /  CUSTOMER INTELLIGENCE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0751800" y="165100"/>
              <a:ext cx="11938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>
                  <a:solidFill>
                    <a:srgbClr val="48E27B"/>
                  </a:solidFill>
                  <a:latin typeface="DM Sans"/>
                  <a:ea typeface="DM Sans"/>
                  <a:cs typeface="DM Sans"/>
                  <a:sym typeface="DM Sans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23900"/>
            <a:ext cx="12382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Problem &amp;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600200"/>
            <a:ext cx="1524000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CloudFlow needs a clear view of which customers stay, which customers leave, what drives churn, and which customers create long-term value.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714750"/>
            <a:ext cx="5029200" cy="3333750"/>
            <a:chOff x="0" y="0"/>
            <a:chExt cx="6705600" cy="444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705600" cy="4445000"/>
              <a:chOff x="0" y="0"/>
              <a:chExt cx="6705600" cy="444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7056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4416136"/>
                    </a:lnTo>
                    <a:cubicBezTo>
                      <a:pt x="6705600" y="4423792"/>
                      <a:pt x="6702559" y="4431133"/>
                      <a:pt x="6697146" y="4436546"/>
                    </a:cubicBezTo>
                    <a:cubicBezTo>
                      <a:pt x="6691733" y="4441959"/>
                      <a:pt x="6684391" y="4445000"/>
                      <a:pt x="6676737" y="4445000"/>
                    </a:cubicBezTo>
                    <a:lnTo>
                      <a:pt x="28864" y="4445000"/>
                    </a:lnTo>
                    <a:cubicBezTo>
                      <a:pt x="21209" y="4445000"/>
                      <a:pt x="13867" y="4441959"/>
                      <a:pt x="8454" y="4436546"/>
                    </a:cubicBezTo>
                    <a:cubicBezTo>
                      <a:pt x="3041" y="4431133"/>
                      <a:pt x="0" y="4423792"/>
                      <a:pt x="0" y="4416136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06400" y="593725"/>
              <a:ext cx="1524000" cy="798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43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06400" y="1889125"/>
              <a:ext cx="57785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5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CUSTOMER &amp; CHURN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06400" y="2765425"/>
              <a:ext cx="5715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Analyze retention, churn, customer health, and churn reasons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5943600" y="5381625"/>
            <a:ext cx="457200" cy="0"/>
          </a:xfrm>
          <a:prstGeom prst="line">
            <a:avLst/>
          </a:prstGeom>
          <a:ln cap="rnd" w="28575">
            <a:solidFill>
              <a:srgbClr val="48E2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400800" y="3714750"/>
            <a:ext cx="5029200" cy="3333750"/>
            <a:chOff x="0" y="0"/>
            <a:chExt cx="6705600" cy="4445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705600" cy="4445000"/>
              <a:chOff x="0" y="0"/>
              <a:chExt cx="6705600" cy="4445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7056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4416136"/>
                    </a:lnTo>
                    <a:cubicBezTo>
                      <a:pt x="6705600" y="4423792"/>
                      <a:pt x="6702559" y="4431133"/>
                      <a:pt x="6697146" y="4436546"/>
                    </a:cubicBezTo>
                    <a:cubicBezTo>
                      <a:pt x="6691733" y="4441959"/>
                      <a:pt x="6684391" y="4445000"/>
                      <a:pt x="6676737" y="4445000"/>
                    </a:cubicBezTo>
                    <a:lnTo>
                      <a:pt x="28864" y="4445000"/>
                    </a:lnTo>
                    <a:cubicBezTo>
                      <a:pt x="21209" y="4445000"/>
                      <a:pt x="13867" y="4441959"/>
                      <a:pt x="8454" y="4436546"/>
                    </a:cubicBezTo>
                    <a:cubicBezTo>
                      <a:pt x="3041" y="4431133"/>
                      <a:pt x="0" y="4423792"/>
                      <a:pt x="0" y="4416136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6400" y="593725"/>
              <a:ext cx="1524000" cy="798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43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6400" y="1889125"/>
              <a:ext cx="57785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5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REVENUE &amp; LTV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06400" y="2765425"/>
              <a:ext cx="5715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Measure recurring revenue, tenure, and customer lifetime value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1430000" y="5381625"/>
            <a:ext cx="457200" cy="0"/>
          </a:xfrm>
          <a:prstGeom prst="line">
            <a:avLst/>
          </a:prstGeom>
          <a:ln cap="rnd" w="28575">
            <a:solidFill>
              <a:srgbClr val="48E2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1887200" y="3714750"/>
            <a:ext cx="5029200" cy="3333750"/>
            <a:chOff x="0" y="0"/>
            <a:chExt cx="6705600" cy="4445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705600" cy="4445000"/>
              <a:chOff x="0" y="0"/>
              <a:chExt cx="6705600" cy="4445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7056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4416136"/>
                    </a:lnTo>
                    <a:cubicBezTo>
                      <a:pt x="6705600" y="4423792"/>
                      <a:pt x="6702559" y="4431133"/>
                      <a:pt x="6697146" y="4436546"/>
                    </a:cubicBezTo>
                    <a:cubicBezTo>
                      <a:pt x="6691733" y="4441959"/>
                      <a:pt x="6684391" y="4445000"/>
                      <a:pt x="6676737" y="4445000"/>
                    </a:cubicBezTo>
                    <a:lnTo>
                      <a:pt x="28864" y="4445000"/>
                    </a:lnTo>
                    <a:cubicBezTo>
                      <a:pt x="21209" y="4445000"/>
                      <a:pt x="13867" y="4441959"/>
                      <a:pt x="8454" y="4436546"/>
                    </a:cubicBezTo>
                    <a:cubicBezTo>
                      <a:pt x="3041" y="4431133"/>
                      <a:pt x="0" y="4423792"/>
                      <a:pt x="0" y="4416136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406400" y="593725"/>
              <a:ext cx="1524000" cy="798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43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06400" y="1889125"/>
              <a:ext cx="57785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5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ACQUISITION &amp; COHORT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06400" y="2765425"/>
              <a:ext cx="5715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Evaluate acquisition channels and customer cohort performance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615488"/>
            <a:ext cx="16459200" cy="309562"/>
            <a:chOff x="0" y="0"/>
            <a:chExt cx="21945600" cy="412750"/>
          </a:xfrm>
        </p:grpSpPr>
        <p:sp>
          <p:nvSpPr>
            <p:cNvPr name="AutoShape 25" id="25"/>
            <p:cNvSpPr/>
            <p:nvPr/>
          </p:nvSpPr>
          <p:spPr>
            <a:xfrm>
              <a:off x="0" y="6350"/>
              <a:ext cx="21945600" cy="0"/>
            </a:xfrm>
            <a:prstGeom prst="line">
              <a:avLst/>
            </a:prstGeom>
            <a:ln cap="flat" w="12700">
              <a:solidFill>
                <a:srgbClr val="24405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0" y="165100"/>
              <a:ext cx="88900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spc="13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CLOUDFLOW  /  CUSTOMER INTELLIGENCE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0751800" y="165100"/>
              <a:ext cx="11938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>
                  <a:solidFill>
                    <a:srgbClr val="48E27B"/>
                  </a:solidFill>
                  <a:latin typeface="DM Sans"/>
                  <a:ea typeface="DM Sans"/>
                  <a:cs typeface="DM Sans"/>
                  <a:sym typeface="DM San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9600"/>
            <a:ext cx="9525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81125"/>
            <a:ext cx="7620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9AA8B8"/>
                </a:solidFill>
                <a:latin typeface="DM Sans"/>
                <a:ea typeface="DM Sans"/>
                <a:cs typeface="DM Sans"/>
                <a:sym typeface="DM Sans"/>
              </a:rPr>
              <a:t>One row represents one customer subscription.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9058275"/>
            <a:ext cx="12382500" cy="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9AA8B8"/>
                </a:solidFill>
                <a:latin typeface="DM Sans"/>
                <a:ea typeface="DM Sans"/>
                <a:cs typeface="DM Sans"/>
                <a:sym typeface="DM Sans"/>
              </a:rPr>
              <a:t>Synthetic dataset created for educational and portfolio purposes.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076450"/>
            <a:ext cx="3019425" cy="1466850"/>
            <a:chOff x="0" y="0"/>
            <a:chExt cx="4025900" cy="19558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013200" cy="1955800"/>
              <a:chOff x="0" y="0"/>
              <a:chExt cx="4013200" cy="1955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01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907572"/>
                    </a:lnTo>
                    <a:cubicBezTo>
                      <a:pt x="4013200" y="1920363"/>
                      <a:pt x="4008119" y="1932630"/>
                      <a:pt x="3999075" y="1941674"/>
                    </a:cubicBezTo>
                    <a:cubicBezTo>
                      <a:pt x="3990030" y="1950719"/>
                      <a:pt x="3977763" y="1955800"/>
                      <a:pt x="3964972" y="1955800"/>
                    </a:cubicBezTo>
                    <a:lnTo>
                      <a:pt x="48228" y="1955800"/>
                    </a:lnTo>
                    <a:cubicBezTo>
                      <a:pt x="35437" y="1955800"/>
                      <a:pt x="23170" y="1950719"/>
                      <a:pt x="14126" y="1941674"/>
                    </a:cubicBezTo>
                    <a:cubicBezTo>
                      <a:pt x="5081" y="1932630"/>
                      <a:pt x="0" y="1920363"/>
                      <a:pt x="0" y="19075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279400" y="263525"/>
              <a:ext cx="37465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10,000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79400" y="1174750"/>
              <a:ext cx="37465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 RECORDS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191000" y="2076450"/>
            <a:ext cx="3019425" cy="1466850"/>
            <a:chOff x="0" y="0"/>
            <a:chExt cx="4025900" cy="19558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013200" cy="1955800"/>
              <a:chOff x="0" y="0"/>
              <a:chExt cx="4013200" cy="1955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1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907572"/>
                    </a:lnTo>
                    <a:cubicBezTo>
                      <a:pt x="4013200" y="1920363"/>
                      <a:pt x="4008119" y="1932630"/>
                      <a:pt x="3999075" y="1941674"/>
                    </a:cubicBezTo>
                    <a:cubicBezTo>
                      <a:pt x="3990030" y="1950719"/>
                      <a:pt x="3977763" y="1955800"/>
                      <a:pt x="3964972" y="1955800"/>
                    </a:cubicBezTo>
                    <a:lnTo>
                      <a:pt x="48228" y="1955800"/>
                    </a:lnTo>
                    <a:cubicBezTo>
                      <a:pt x="35437" y="1955800"/>
                      <a:pt x="23170" y="1950719"/>
                      <a:pt x="14126" y="1941674"/>
                    </a:cubicBezTo>
                    <a:cubicBezTo>
                      <a:pt x="5081" y="1932630"/>
                      <a:pt x="0" y="1920363"/>
                      <a:pt x="0" y="19075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79400" y="263525"/>
              <a:ext cx="37465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18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79400" y="1174750"/>
              <a:ext cx="37465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RAW BUSINESS COLUMNS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67600" y="2076450"/>
            <a:ext cx="3019425" cy="1466850"/>
            <a:chOff x="0" y="0"/>
            <a:chExt cx="4025900" cy="1955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013200" cy="1955800"/>
              <a:chOff x="0" y="0"/>
              <a:chExt cx="4013200" cy="1955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1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907572"/>
                    </a:lnTo>
                    <a:cubicBezTo>
                      <a:pt x="4013200" y="1920363"/>
                      <a:pt x="4008119" y="1932630"/>
                      <a:pt x="3999075" y="1941674"/>
                    </a:cubicBezTo>
                    <a:cubicBezTo>
                      <a:pt x="3990030" y="1950719"/>
                      <a:pt x="3977763" y="1955800"/>
                      <a:pt x="3964972" y="1955800"/>
                    </a:cubicBezTo>
                    <a:lnTo>
                      <a:pt x="48228" y="1955800"/>
                    </a:lnTo>
                    <a:cubicBezTo>
                      <a:pt x="35437" y="1955800"/>
                      <a:pt x="23170" y="1950719"/>
                      <a:pt x="14126" y="1941674"/>
                    </a:cubicBezTo>
                    <a:cubicBezTo>
                      <a:pt x="5081" y="1932630"/>
                      <a:pt x="0" y="1920363"/>
                      <a:pt x="0" y="19075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279400" y="263525"/>
              <a:ext cx="37465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2023–2025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79400" y="1174750"/>
              <a:ext cx="37465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ANALYSIS PERIOD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44200" y="2076450"/>
            <a:ext cx="3019425" cy="1466850"/>
            <a:chOff x="0" y="0"/>
            <a:chExt cx="4025900" cy="19558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013200" cy="1955800"/>
              <a:chOff x="0" y="0"/>
              <a:chExt cx="4013200" cy="1955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1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907572"/>
                    </a:lnTo>
                    <a:cubicBezTo>
                      <a:pt x="4013200" y="1920363"/>
                      <a:pt x="4008119" y="1932630"/>
                      <a:pt x="3999075" y="1941674"/>
                    </a:cubicBezTo>
                    <a:cubicBezTo>
                      <a:pt x="3990030" y="1950719"/>
                      <a:pt x="3977763" y="1955800"/>
                      <a:pt x="3964972" y="1955800"/>
                    </a:cubicBezTo>
                    <a:lnTo>
                      <a:pt x="48228" y="1955800"/>
                    </a:lnTo>
                    <a:cubicBezTo>
                      <a:pt x="35437" y="1955800"/>
                      <a:pt x="23170" y="1950719"/>
                      <a:pt x="14126" y="1941674"/>
                    </a:cubicBezTo>
                    <a:cubicBezTo>
                      <a:pt x="5081" y="1932630"/>
                      <a:pt x="0" y="1920363"/>
                      <a:pt x="0" y="19075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279400" y="263525"/>
              <a:ext cx="37465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India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79400" y="1174750"/>
              <a:ext cx="37465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 MARKET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20800" y="2076450"/>
            <a:ext cx="3019425" cy="1466850"/>
            <a:chOff x="0" y="0"/>
            <a:chExt cx="4025900" cy="19558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013200" cy="1955800"/>
              <a:chOff x="0" y="0"/>
              <a:chExt cx="4013200" cy="1955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01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907572"/>
                    </a:lnTo>
                    <a:cubicBezTo>
                      <a:pt x="4013200" y="1920363"/>
                      <a:pt x="4008119" y="1932630"/>
                      <a:pt x="3999075" y="1941674"/>
                    </a:cubicBezTo>
                    <a:cubicBezTo>
                      <a:pt x="3990030" y="1950719"/>
                      <a:pt x="3977763" y="1955800"/>
                      <a:pt x="3964972" y="1955800"/>
                    </a:cubicBezTo>
                    <a:lnTo>
                      <a:pt x="48228" y="1955800"/>
                    </a:lnTo>
                    <a:cubicBezTo>
                      <a:pt x="35437" y="1955800"/>
                      <a:pt x="23170" y="1950719"/>
                      <a:pt x="14126" y="1941674"/>
                    </a:cubicBezTo>
                    <a:cubicBezTo>
                      <a:pt x="5081" y="1932630"/>
                      <a:pt x="0" y="1920363"/>
                      <a:pt x="0" y="19075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279400" y="292100"/>
              <a:ext cx="37465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 Intentional Nulls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79400" y="1174750"/>
              <a:ext cx="37465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DATASET QUALITY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4191000"/>
            <a:ext cx="5029200" cy="1676400"/>
            <a:chOff x="0" y="0"/>
            <a:chExt cx="6705600" cy="22352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705600" cy="2235200"/>
              <a:chOff x="0" y="0"/>
              <a:chExt cx="6705600" cy="22352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705600" cy="2235200"/>
              </a:xfrm>
              <a:custGeom>
                <a:avLst/>
                <a:gdLst/>
                <a:ahLst/>
                <a:cxnLst/>
                <a:rect r="r" b="b" t="t" l="l"/>
                <a:pathLst>
                  <a:path h="22352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2206336"/>
                    </a:lnTo>
                    <a:cubicBezTo>
                      <a:pt x="6705600" y="2213991"/>
                      <a:pt x="6702559" y="2221333"/>
                      <a:pt x="6697146" y="2226746"/>
                    </a:cubicBezTo>
                    <a:cubicBezTo>
                      <a:pt x="6691733" y="2232159"/>
                      <a:pt x="6684391" y="2235200"/>
                      <a:pt x="6676737" y="2235200"/>
                    </a:cubicBezTo>
                    <a:lnTo>
                      <a:pt x="28864" y="2235200"/>
                    </a:lnTo>
                    <a:cubicBezTo>
                      <a:pt x="21209" y="2235200"/>
                      <a:pt x="13867" y="2232159"/>
                      <a:pt x="8454" y="2226746"/>
                    </a:cubicBezTo>
                    <a:cubicBezTo>
                      <a:pt x="3041" y="2221333"/>
                      <a:pt x="0" y="2213991"/>
                      <a:pt x="0" y="2206336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330200" y="298450"/>
              <a:ext cx="596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 PROFILE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30200" y="933450"/>
              <a:ext cx="5778500" cy="67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7"/>
                </a:lnSpc>
              </a:pPr>
              <a:r>
                <a:rPr lang="en-US" sz="157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Customer ID, Company, Industry, State, Employee Count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00800" y="4191000"/>
            <a:ext cx="5029200" cy="1676400"/>
            <a:chOff x="0" y="0"/>
            <a:chExt cx="6705600" cy="22352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6705600" cy="2235200"/>
              <a:chOff x="0" y="0"/>
              <a:chExt cx="6705600" cy="22352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705600" cy="2235200"/>
              </a:xfrm>
              <a:custGeom>
                <a:avLst/>
                <a:gdLst/>
                <a:ahLst/>
                <a:cxnLst/>
                <a:rect r="r" b="b" t="t" l="l"/>
                <a:pathLst>
                  <a:path h="22352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2206336"/>
                    </a:lnTo>
                    <a:cubicBezTo>
                      <a:pt x="6705600" y="2213991"/>
                      <a:pt x="6702559" y="2221333"/>
                      <a:pt x="6697146" y="2226746"/>
                    </a:cubicBezTo>
                    <a:cubicBezTo>
                      <a:pt x="6691733" y="2232159"/>
                      <a:pt x="6684391" y="2235200"/>
                      <a:pt x="6676737" y="2235200"/>
                    </a:cubicBezTo>
                    <a:lnTo>
                      <a:pt x="28864" y="2235200"/>
                    </a:lnTo>
                    <a:cubicBezTo>
                      <a:pt x="21209" y="2235200"/>
                      <a:pt x="13867" y="2232159"/>
                      <a:pt x="8454" y="2226746"/>
                    </a:cubicBezTo>
                    <a:cubicBezTo>
                      <a:pt x="3041" y="2221333"/>
                      <a:pt x="0" y="2213991"/>
                      <a:pt x="0" y="2206336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330200" y="298450"/>
              <a:ext cx="596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SUBSCRIPTION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30200" y="933450"/>
              <a:ext cx="5778500" cy="335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7"/>
                </a:lnSpc>
              </a:pPr>
              <a:r>
                <a:rPr lang="en-US" sz="157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Plan, Start Date, Renewal Date, Validity Date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887200" y="4191000"/>
            <a:ext cx="5029200" cy="1676400"/>
            <a:chOff x="0" y="0"/>
            <a:chExt cx="6705600" cy="22352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6705600" cy="2235200"/>
              <a:chOff x="0" y="0"/>
              <a:chExt cx="6705600" cy="2235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705600" cy="2235200"/>
              </a:xfrm>
              <a:custGeom>
                <a:avLst/>
                <a:gdLst/>
                <a:ahLst/>
                <a:cxnLst/>
                <a:rect r="r" b="b" t="t" l="l"/>
                <a:pathLst>
                  <a:path h="22352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2206336"/>
                    </a:lnTo>
                    <a:cubicBezTo>
                      <a:pt x="6705600" y="2213991"/>
                      <a:pt x="6702559" y="2221333"/>
                      <a:pt x="6697146" y="2226746"/>
                    </a:cubicBezTo>
                    <a:cubicBezTo>
                      <a:pt x="6691733" y="2232159"/>
                      <a:pt x="6684391" y="2235200"/>
                      <a:pt x="6676737" y="2235200"/>
                    </a:cubicBezTo>
                    <a:lnTo>
                      <a:pt x="28864" y="2235200"/>
                    </a:lnTo>
                    <a:cubicBezTo>
                      <a:pt x="21209" y="2235200"/>
                      <a:pt x="13867" y="2232159"/>
                      <a:pt x="8454" y="2226746"/>
                    </a:cubicBezTo>
                    <a:cubicBezTo>
                      <a:pt x="3041" y="2221333"/>
                      <a:pt x="0" y="2213991"/>
                      <a:pt x="0" y="2206336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330200" y="298450"/>
              <a:ext cx="596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REVENUE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30200" y="933450"/>
              <a:ext cx="5778500" cy="335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7"/>
                </a:lnSpc>
              </a:pPr>
              <a:r>
                <a:rPr lang="en-US" sz="157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MRR, Discount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6286500"/>
            <a:ext cx="5029200" cy="1676400"/>
            <a:chOff x="0" y="0"/>
            <a:chExt cx="6705600" cy="223520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6705600" cy="2235200"/>
              <a:chOff x="0" y="0"/>
              <a:chExt cx="6705600" cy="22352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6705600" cy="2235200"/>
              </a:xfrm>
              <a:custGeom>
                <a:avLst/>
                <a:gdLst/>
                <a:ahLst/>
                <a:cxnLst/>
                <a:rect r="r" b="b" t="t" l="l"/>
                <a:pathLst>
                  <a:path h="22352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2206336"/>
                    </a:lnTo>
                    <a:cubicBezTo>
                      <a:pt x="6705600" y="2213991"/>
                      <a:pt x="6702559" y="2221333"/>
                      <a:pt x="6697146" y="2226746"/>
                    </a:cubicBezTo>
                    <a:cubicBezTo>
                      <a:pt x="6691733" y="2232159"/>
                      <a:pt x="6684391" y="2235200"/>
                      <a:pt x="6676737" y="2235200"/>
                    </a:cubicBezTo>
                    <a:lnTo>
                      <a:pt x="28864" y="2235200"/>
                    </a:lnTo>
                    <a:cubicBezTo>
                      <a:pt x="21209" y="2235200"/>
                      <a:pt x="13867" y="2232159"/>
                      <a:pt x="8454" y="2226746"/>
                    </a:cubicBezTo>
                    <a:cubicBezTo>
                      <a:pt x="3041" y="2221333"/>
                      <a:pt x="0" y="2213991"/>
                      <a:pt x="0" y="2206336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48" id="48"/>
            <p:cNvSpPr txBox="true"/>
            <p:nvPr/>
          </p:nvSpPr>
          <p:spPr>
            <a:xfrm rot="0">
              <a:off x="330200" y="298450"/>
              <a:ext cx="596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 HEALTH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330200" y="933450"/>
              <a:ext cx="5778500" cy="335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7"/>
                </a:lnSpc>
              </a:pPr>
              <a:r>
                <a:rPr lang="en-US" sz="157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Support Tickets, Product Usage, Satisfaction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400800" y="6286500"/>
            <a:ext cx="5029200" cy="1676400"/>
            <a:chOff x="0" y="0"/>
            <a:chExt cx="6705600" cy="2235200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6705600" cy="2235200"/>
              <a:chOff x="0" y="0"/>
              <a:chExt cx="6705600" cy="2235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6705600" cy="2235200"/>
              </a:xfrm>
              <a:custGeom>
                <a:avLst/>
                <a:gdLst/>
                <a:ahLst/>
                <a:cxnLst/>
                <a:rect r="r" b="b" t="t" l="l"/>
                <a:pathLst>
                  <a:path h="22352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2206336"/>
                    </a:lnTo>
                    <a:cubicBezTo>
                      <a:pt x="6705600" y="2213991"/>
                      <a:pt x="6702559" y="2221333"/>
                      <a:pt x="6697146" y="2226746"/>
                    </a:cubicBezTo>
                    <a:cubicBezTo>
                      <a:pt x="6691733" y="2232159"/>
                      <a:pt x="6684391" y="2235200"/>
                      <a:pt x="6676737" y="2235200"/>
                    </a:cubicBezTo>
                    <a:lnTo>
                      <a:pt x="28864" y="2235200"/>
                    </a:lnTo>
                    <a:cubicBezTo>
                      <a:pt x="21209" y="2235200"/>
                      <a:pt x="13867" y="2232159"/>
                      <a:pt x="8454" y="2226746"/>
                    </a:cubicBezTo>
                    <a:cubicBezTo>
                      <a:pt x="3041" y="2221333"/>
                      <a:pt x="0" y="2213991"/>
                      <a:pt x="0" y="2206336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53" id="53"/>
            <p:cNvSpPr txBox="true"/>
            <p:nvPr/>
          </p:nvSpPr>
          <p:spPr>
            <a:xfrm rot="0">
              <a:off x="330200" y="298450"/>
              <a:ext cx="596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CHURN &amp; ENGAGEMENT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30200" y="933450"/>
              <a:ext cx="5778500" cy="335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7"/>
                </a:lnSpc>
              </a:pPr>
              <a:r>
                <a:rPr lang="en-US" sz="157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Churn Reason, Last Login Date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23900"/>
            <a:ext cx="13335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Preparation &amp; Analytical Layer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8629650"/>
            <a:ext cx="13811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9AA8B8"/>
                </a:solidFill>
                <a:latin typeface="DM Sans"/>
                <a:ea typeface="DM Sans"/>
                <a:cs typeface="DM Sans"/>
                <a:sym typeface="DM Sans"/>
              </a:rPr>
              <a:t>Calculated metrics were created in Excel rather than embedded directly in the raw dataset.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2190750"/>
            <a:ext cx="3143250" cy="857250"/>
            <a:chOff x="0" y="0"/>
            <a:chExt cx="4191000" cy="114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4191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1104515"/>
                  </a:lnTo>
                  <a:cubicBezTo>
                    <a:pt x="4191000" y="1114722"/>
                    <a:pt x="4186945" y="1124511"/>
                    <a:pt x="4179728" y="1131728"/>
                  </a:cubicBezTo>
                  <a:cubicBezTo>
                    <a:pt x="4172511" y="1138945"/>
                    <a:pt x="4162722" y="1143000"/>
                    <a:pt x="4152515" y="1143000"/>
                  </a:cubicBezTo>
                  <a:lnTo>
                    <a:pt x="38485" y="1143000"/>
                  </a:lnTo>
                  <a:cubicBezTo>
                    <a:pt x="28278" y="1143000"/>
                    <a:pt x="18489" y="1138945"/>
                    <a:pt x="11272" y="1131728"/>
                  </a:cubicBezTo>
                  <a:cubicBezTo>
                    <a:pt x="4055" y="1124511"/>
                    <a:pt x="0" y="1114722"/>
                    <a:pt x="0" y="1104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48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191000" cy="11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0711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  RAW DATA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4152900" y="2619375"/>
            <a:ext cx="666750" cy="0"/>
          </a:xfrm>
          <a:prstGeom prst="line">
            <a:avLst/>
          </a:prstGeom>
          <a:ln cap="rnd" w="28575">
            <a:solidFill>
              <a:srgbClr val="48E2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010150" y="2190750"/>
            <a:ext cx="3143250" cy="857250"/>
            <a:chOff x="0" y="0"/>
            <a:chExt cx="4191000" cy="114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9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4191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1104515"/>
                  </a:lnTo>
                  <a:cubicBezTo>
                    <a:pt x="4191000" y="1114722"/>
                    <a:pt x="4186945" y="1124511"/>
                    <a:pt x="4179728" y="1131728"/>
                  </a:cubicBezTo>
                  <a:cubicBezTo>
                    <a:pt x="4172511" y="1138945"/>
                    <a:pt x="4162722" y="1143000"/>
                    <a:pt x="4152515" y="1143000"/>
                  </a:cubicBezTo>
                  <a:lnTo>
                    <a:pt x="38485" y="1143000"/>
                  </a:lnTo>
                  <a:cubicBezTo>
                    <a:pt x="28278" y="1143000"/>
                    <a:pt x="18489" y="1138945"/>
                    <a:pt x="11272" y="1131728"/>
                  </a:cubicBezTo>
                  <a:cubicBezTo>
                    <a:pt x="4055" y="1124511"/>
                    <a:pt x="0" y="1114722"/>
                    <a:pt x="0" y="1104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48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4191000" cy="11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0711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  DATA VALIDATION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8248650" y="2619375"/>
            <a:ext cx="666750" cy="0"/>
          </a:xfrm>
          <a:prstGeom prst="line">
            <a:avLst/>
          </a:prstGeom>
          <a:ln cap="rnd" w="28575">
            <a:solidFill>
              <a:srgbClr val="48E2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105900" y="2190750"/>
            <a:ext cx="3143250" cy="857250"/>
            <a:chOff x="0" y="0"/>
            <a:chExt cx="4191000" cy="114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9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4191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1104515"/>
                  </a:lnTo>
                  <a:cubicBezTo>
                    <a:pt x="4191000" y="1114722"/>
                    <a:pt x="4186945" y="1124511"/>
                    <a:pt x="4179728" y="1131728"/>
                  </a:cubicBezTo>
                  <a:cubicBezTo>
                    <a:pt x="4172511" y="1138945"/>
                    <a:pt x="4162722" y="1143000"/>
                    <a:pt x="4152515" y="1143000"/>
                  </a:cubicBezTo>
                  <a:lnTo>
                    <a:pt x="38485" y="1143000"/>
                  </a:lnTo>
                  <a:cubicBezTo>
                    <a:pt x="28278" y="1143000"/>
                    <a:pt x="18489" y="1138945"/>
                    <a:pt x="11272" y="1131728"/>
                  </a:cubicBezTo>
                  <a:cubicBezTo>
                    <a:pt x="4055" y="1124511"/>
                    <a:pt x="0" y="1114722"/>
                    <a:pt x="0" y="1104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48E27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191000" cy="11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0711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  CALCULATED METRICS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2344400" y="2619375"/>
            <a:ext cx="666750" cy="0"/>
          </a:xfrm>
          <a:prstGeom prst="line">
            <a:avLst/>
          </a:prstGeom>
          <a:ln cap="rnd" w="28575">
            <a:solidFill>
              <a:srgbClr val="48E2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3201650" y="2190750"/>
            <a:ext cx="3143250" cy="857250"/>
            <a:chOff x="0" y="0"/>
            <a:chExt cx="41910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9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4191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1104515"/>
                  </a:lnTo>
                  <a:cubicBezTo>
                    <a:pt x="4191000" y="1114722"/>
                    <a:pt x="4186945" y="1124511"/>
                    <a:pt x="4179728" y="1131728"/>
                  </a:cubicBezTo>
                  <a:cubicBezTo>
                    <a:pt x="4172511" y="1138945"/>
                    <a:pt x="4162722" y="1143000"/>
                    <a:pt x="4152515" y="1143000"/>
                  </a:cubicBezTo>
                  <a:lnTo>
                    <a:pt x="38485" y="1143000"/>
                  </a:lnTo>
                  <a:cubicBezTo>
                    <a:pt x="28278" y="1143000"/>
                    <a:pt x="18489" y="1138945"/>
                    <a:pt x="11272" y="1131728"/>
                  </a:cubicBezTo>
                  <a:cubicBezTo>
                    <a:pt x="4055" y="1124511"/>
                    <a:pt x="0" y="1114722"/>
                    <a:pt x="0" y="1104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48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191000" cy="11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0711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  PIVOT ANALYSIS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4095750"/>
            <a:ext cx="3009900" cy="1066800"/>
            <a:chOff x="0" y="0"/>
            <a:chExt cx="4013200" cy="14224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013200" cy="1422400"/>
              <a:chOff x="0" y="0"/>
              <a:chExt cx="4013200" cy="1422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0132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374172"/>
                    </a:lnTo>
                    <a:cubicBezTo>
                      <a:pt x="4013200" y="1386963"/>
                      <a:pt x="4008119" y="1399230"/>
                      <a:pt x="3999075" y="1408274"/>
                    </a:cubicBezTo>
                    <a:cubicBezTo>
                      <a:pt x="3990030" y="1417319"/>
                      <a:pt x="3977763" y="1422400"/>
                      <a:pt x="3964972" y="1422400"/>
                    </a:cubicBezTo>
                    <a:lnTo>
                      <a:pt x="48228" y="1422400"/>
                    </a:lnTo>
                    <a:cubicBezTo>
                      <a:pt x="35437" y="1422400"/>
                      <a:pt x="23170" y="1417319"/>
                      <a:pt x="14126" y="1408274"/>
                    </a:cubicBezTo>
                    <a:cubicBezTo>
                      <a:pt x="5081" y="1399230"/>
                      <a:pt x="0" y="1386963"/>
                      <a:pt x="0" y="13741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0" y="504825"/>
              <a:ext cx="35052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 Status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91000" y="4095750"/>
            <a:ext cx="3009900" cy="1066800"/>
            <a:chOff x="0" y="0"/>
            <a:chExt cx="4013200" cy="14224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013200" cy="1422400"/>
              <a:chOff x="0" y="0"/>
              <a:chExt cx="4013200" cy="1422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132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374172"/>
                    </a:lnTo>
                    <a:cubicBezTo>
                      <a:pt x="4013200" y="1386963"/>
                      <a:pt x="4008119" y="1399230"/>
                      <a:pt x="3999075" y="1408274"/>
                    </a:cubicBezTo>
                    <a:cubicBezTo>
                      <a:pt x="3990030" y="1417319"/>
                      <a:pt x="3977763" y="1422400"/>
                      <a:pt x="3964972" y="1422400"/>
                    </a:cubicBezTo>
                    <a:lnTo>
                      <a:pt x="48228" y="1422400"/>
                    </a:lnTo>
                    <a:cubicBezTo>
                      <a:pt x="35437" y="1422400"/>
                      <a:pt x="23170" y="1417319"/>
                      <a:pt x="14126" y="1408274"/>
                    </a:cubicBezTo>
                    <a:cubicBezTo>
                      <a:pt x="5081" y="1399230"/>
                      <a:pt x="0" y="1386963"/>
                      <a:pt x="0" y="13741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254000" y="504825"/>
              <a:ext cx="35052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Company Size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67600" y="4095750"/>
            <a:ext cx="3009900" cy="1066800"/>
            <a:chOff x="0" y="0"/>
            <a:chExt cx="4013200" cy="14224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013200" cy="1422400"/>
              <a:chOff x="0" y="0"/>
              <a:chExt cx="4013200" cy="1422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132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374172"/>
                    </a:lnTo>
                    <a:cubicBezTo>
                      <a:pt x="4013200" y="1386963"/>
                      <a:pt x="4008119" y="1399230"/>
                      <a:pt x="3999075" y="1408274"/>
                    </a:cubicBezTo>
                    <a:cubicBezTo>
                      <a:pt x="3990030" y="1417319"/>
                      <a:pt x="3977763" y="1422400"/>
                      <a:pt x="3964972" y="1422400"/>
                    </a:cubicBezTo>
                    <a:lnTo>
                      <a:pt x="48228" y="1422400"/>
                    </a:lnTo>
                    <a:cubicBezTo>
                      <a:pt x="35437" y="1422400"/>
                      <a:pt x="23170" y="1417319"/>
                      <a:pt x="14126" y="1408274"/>
                    </a:cubicBezTo>
                    <a:cubicBezTo>
                      <a:pt x="5081" y="1399230"/>
                      <a:pt x="0" y="1386963"/>
                      <a:pt x="0" y="13741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254000" y="504825"/>
              <a:ext cx="35052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Cohort Month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744200" y="4095750"/>
            <a:ext cx="3009900" cy="1066800"/>
            <a:chOff x="0" y="0"/>
            <a:chExt cx="4013200" cy="14224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4013200" cy="1422400"/>
              <a:chOff x="0" y="0"/>
              <a:chExt cx="4013200" cy="1422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0132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374172"/>
                    </a:lnTo>
                    <a:cubicBezTo>
                      <a:pt x="4013200" y="1386963"/>
                      <a:pt x="4008119" y="1399230"/>
                      <a:pt x="3999075" y="1408274"/>
                    </a:cubicBezTo>
                    <a:cubicBezTo>
                      <a:pt x="3990030" y="1417319"/>
                      <a:pt x="3977763" y="1422400"/>
                      <a:pt x="3964972" y="1422400"/>
                    </a:cubicBezTo>
                    <a:lnTo>
                      <a:pt x="48228" y="1422400"/>
                    </a:lnTo>
                    <a:cubicBezTo>
                      <a:pt x="35437" y="1422400"/>
                      <a:pt x="23170" y="1417319"/>
                      <a:pt x="14126" y="1408274"/>
                    </a:cubicBezTo>
                    <a:cubicBezTo>
                      <a:pt x="5081" y="1399230"/>
                      <a:pt x="0" y="1386963"/>
                      <a:pt x="0" y="13741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254000" y="504825"/>
              <a:ext cx="35052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Tenure Months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020800" y="4095750"/>
            <a:ext cx="3009900" cy="1066800"/>
            <a:chOff x="0" y="0"/>
            <a:chExt cx="4013200" cy="14224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013200" cy="1422400"/>
              <a:chOff x="0" y="0"/>
              <a:chExt cx="4013200" cy="14224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0132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374172"/>
                    </a:lnTo>
                    <a:cubicBezTo>
                      <a:pt x="4013200" y="1386963"/>
                      <a:pt x="4008119" y="1399230"/>
                      <a:pt x="3999075" y="1408274"/>
                    </a:cubicBezTo>
                    <a:cubicBezTo>
                      <a:pt x="3990030" y="1417319"/>
                      <a:pt x="3977763" y="1422400"/>
                      <a:pt x="3964972" y="1422400"/>
                    </a:cubicBezTo>
                    <a:lnTo>
                      <a:pt x="48228" y="1422400"/>
                    </a:lnTo>
                    <a:cubicBezTo>
                      <a:pt x="35437" y="1422400"/>
                      <a:pt x="23170" y="1417319"/>
                      <a:pt x="14126" y="1408274"/>
                    </a:cubicBezTo>
                    <a:cubicBezTo>
                      <a:pt x="5081" y="1399230"/>
                      <a:pt x="0" y="1386963"/>
                      <a:pt x="0" y="13741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38" id="38"/>
            <p:cNvSpPr txBox="true"/>
            <p:nvPr/>
          </p:nvSpPr>
          <p:spPr>
            <a:xfrm rot="0">
              <a:off x="254000" y="504825"/>
              <a:ext cx="35052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Net MRR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5476875"/>
            <a:ext cx="3009900" cy="1066800"/>
            <a:chOff x="0" y="0"/>
            <a:chExt cx="4013200" cy="14224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4013200" cy="1422400"/>
              <a:chOff x="0" y="0"/>
              <a:chExt cx="4013200" cy="14224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132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374172"/>
                    </a:lnTo>
                    <a:cubicBezTo>
                      <a:pt x="4013200" y="1386963"/>
                      <a:pt x="4008119" y="1399230"/>
                      <a:pt x="3999075" y="1408274"/>
                    </a:cubicBezTo>
                    <a:cubicBezTo>
                      <a:pt x="3990030" y="1417319"/>
                      <a:pt x="3977763" y="1422400"/>
                      <a:pt x="3964972" y="1422400"/>
                    </a:cubicBezTo>
                    <a:lnTo>
                      <a:pt x="48228" y="1422400"/>
                    </a:lnTo>
                    <a:cubicBezTo>
                      <a:pt x="35437" y="1422400"/>
                      <a:pt x="23170" y="1417319"/>
                      <a:pt x="14126" y="1408274"/>
                    </a:cubicBezTo>
                    <a:cubicBezTo>
                      <a:pt x="5081" y="1399230"/>
                      <a:pt x="0" y="1386963"/>
                      <a:pt x="0" y="13741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254000" y="504825"/>
              <a:ext cx="35052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Annualized Revenue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191000" y="5476875"/>
            <a:ext cx="3009900" cy="1066800"/>
            <a:chOff x="0" y="0"/>
            <a:chExt cx="4013200" cy="142240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4013200" cy="1422400"/>
              <a:chOff x="0" y="0"/>
              <a:chExt cx="4013200" cy="14224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132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374172"/>
                    </a:lnTo>
                    <a:cubicBezTo>
                      <a:pt x="4013200" y="1386963"/>
                      <a:pt x="4008119" y="1399230"/>
                      <a:pt x="3999075" y="1408274"/>
                    </a:cubicBezTo>
                    <a:cubicBezTo>
                      <a:pt x="3990030" y="1417319"/>
                      <a:pt x="3977763" y="1422400"/>
                      <a:pt x="3964972" y="1422400"/>
                    </a:cubicBezTo>
                    <a:lnTo>
                      <a:pt x="48228" y="1422400"/>
                    </a:lnTo>
                    <a:cubicBezTo>
                      <a:pt x="35437" y="1422400"/>
                      <a:pt x="23170" y="1417319"/>
                      <a:pt x="14126" y="1408274"/>
                    </a:cubicBezTo>
                    <a:cubicBezTo>
                      <a:pt x="5081" y="1399230"/>
                      <a:pt x="0" y="1386963"/>
                      <a:pt x="0" y="13741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254000" y="495300"/>
              <a:ext cx="35052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 Lifetime Revenue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467600" y="5476875"/>
            <a:ext cx="3009900" cy="1066800"/>
            <a:chOff x="0" y="0"/>
            <a:chExt cx="4013200" cy="142240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4013200" cy="1422400"/>
              <a:chOff x="0" y="0"/>
              <a:chExt cx="4013200" cy="14224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40132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374172"/>
                    </a:lnTo>
                    <a:cubicBezTo>
                      <a:pt x="4013200" y="1386963"/>
                      <a:pt x="4008119" y="1399230"/>
                      <a:pt x="3999075" y="1408274"/>
                    </a:cubicBezTo>
                    <a:cubicBezTo>
                      <a:pt x="3990030" y="1417319"/>
                      <a:pt x="3977763" y="1422400"/>
                      <a:pt x="3964972" y="1422400"/>
                    </a:cubicBezTo>
                    <a:lnTo>
                      <a:pt x="48228" y="1422400"/>
                    </a:lnTo>
                    <a:cubicBezTo>
                      <a:pt x="35437" y="1422400"/>
                      <a:pt x="23170" y="1417319"/>
                      <a:pt x="14126" y="1408274"/>
                    </a:cubicBezTo>
                    <a:cubicBezTo>
                      <a:pt x="5081" y="1399230"/>
                      <a:pt x="0" y="1386963"/>
                      <a:pt x="0" y="13741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50" id="50"/>
            <p:cNvSpPr txBox="true"/>
            <p:nvPr/>
          </p:nvSpPr>
          <p:spPr>
            <a:xfrm rot="0">
              <a:off x="254000" y="504825"/>
              <a:ext cx="35052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Churn Flag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744200" y="5476875"/>
            <a:ext cx="3009900" cy="1066800"/>
            <a:chOff x="0" y="0"/>
            <a:chExt cx="4013200" cy="14224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4013200" cy="1422400"/>
              <a:chOff x="0" y="0"/>
              <a:chExt cx="4013200" cy="14224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0132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374172"/>
                    </a:lnTo>
                    <a:cubicBezTo>
                      <a:pt x="4013200" y="1386963"/>
                      <a:pt x="4008119" y="1399230"/>
                      <a:pt x="3999075" y="1408274"/>
                    </a:cubicBezTo>
                    <a:cubicBezTo>
                      <a:pt x="3990030" y="1417319"/>
                      <a:pt x="3977763" y="1422400"/>
                      <a:pt x="3964972" y="1422400"/>
                    </a:cubicBezTo>
                    <a:lnTo>
                      <a:pt x="48228" y="1422400"/>
                    </a:lnTo>
                    <a:cubicBezTo>
                      <a:pt x="35437" y="1422400"/>
                      <a:pt x="23170" y="1417319"/>
                      <a:pt x="14126" y="1408274"/>
                    </a:cubicBezTo>
                    <a:cubicBezTo>
                      <a:pt x="5081" y="1399230"/>
                      <a:pt x="0" y="1386963"/>
                      <a:pt x="0" y="13741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54" id="54"/>
            <p:cNvSpPr txBox="true"/>
            <p:nvPr/>
          </p:nvSpPr>
          <p:spPr>
            <a:xfrm rot="0">
              <a:off x="254000" y="504825"/>
              <a:ext cx="35052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Renewal Status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020800" y="5476875"/>
            <a:ext cx="3009900" cy="1066800"/>
            <a:chOff x="0" y="0"/>
            <a:chExt cx="4013200" cy="1422400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4013200" cy="1422400"/>
              <a:chOff x="0" y="0"/>
              <a:chExt cx="4013200" cy="14224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4013200" cy="1422400"/>
              </a:xfrm>
              <a:custGeom>
                <a:avLst/>
                <a:gdLst/>
                <a:ahLst/>
                <a:cxnLst/>
                <a:rect r="r" b="b" t="t" l="l"/>
                <a:pathLst>
                  <a:path h="1422400" w="4013200">
                    <a:moveTo>
                      <a:pt x="48228" y="0"/>
                    </a:moveTo>
                    <a:lnTo>
                      <a:pt x="3964972" y="0"/>
                    </a:lnTo>
                    <a:cubicBezTo>
                      <a:pt x="3977763" y="0"/>
                      <a:pt x="3990030" y="5081"/>
                      <a:pt x="3999075" y="14126"/>
                    </a:cubicBezTo>
                    <a:cubicBezTo>
                      <a:pt x="4008119" y="23170"/>
                      <a:pt x="4013200" y="35437"/>
                      <a:pt x="4013200" y="48228"/>
                    </a:cubicBezTo>
                    <a:lnTo>
                      <a:pt x="4013200" y="1374172"/>
                    </a:lnTo>
                    <a:cubicBezTo>
                      <a:pt x="4013200" y="1386963"/>
                      <a:pt x="4008119" y="1399230"/>
                      <a:pt x="3999075" y="1408274"/>
                    </a:cubicBezTo>
                    <a:cubicBezTo>
                      <a:pt x="3990030" y="1417319"/>
                      <a:pt x="3977763" y="1422400"/>
                      <a:pt x="3964972" y="1422400"/>
                    </a:cubicBezTo>
                    <a:lnTo>
                      <a:pt x="48228" y="1422400"/>
                    </a:lnTo>
                    <a:cubicBezTo>
                      <a:pt x="35437" y="1422400"/>
                      <a:pt x="23170" y="1417319"/>
                      <a:pt x="14126" y="1408274"/>
                    </a:cubicBezTo>
                    <a:cubicBezTo>
                      <a:pt x="5081" y="1399230"/>
                      <a:pt x="0" y="1386963"/>
                      <a:pt x="0" y="1374172"/>
                    </a:cubicBezTo>
                    <a:lnTo>
                      <a:pt x="0" y="48228"/>
                    </a:lnTo>
                    <a:cubicBezTo>
                      <a:pt x="0" y="35437"/>
                      <a:pt x="5081" y="23170"/>
                      <a:pt x="14126" y="14126"/>
                    </a:cubicBezTo>
                    <a:cubicBezTo>
                      <a:pt x="23170" y="5081"/>
                      <a:pt x="35437" y="0"/>
                      <a:pt x="4822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58" id="58"/>
            <p:cNvSpPr txBox="true"/>
            <p:nvPr/>
          </p:nvSpPr>
          <p:spPr>
            <a:xfrm rot="0">
              <a:off x="254000" y="504825"/>
              <a:ext cx="35052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Login Recency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4400" y="9615488"/>
            <a:ext cx="16459200" cy="309562"/>
            <a:chOff x="0" y="0"/>
            <a:chExt cx="21945600" cy="412750"/>
          </a:xfrm>
        </p:grpSpPr>
        <p:sp>
          <p:nvSpPr>
            <p:cNvPr name="AutoShape 60" id="60"/>
            <p:cNvSpPr/>
            <p:nvPr/>
          </p:nvSpPr>
          <p:spPr>
            <a:xfrm>
              <a:off x="0" y="6350"/>
              <a:ext cx="21945600" cy="0"/>
            </a:xfrm>
            <a:prstGeom prst="line">
              <a:avLst/>
            </a:prstGeom>
            <a:ln cap="flat" w="12700">
              <a:solidFill>
                <a:srgbClr val="24405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1" id="61"/>
            <p:cNvSpPr txBox="true"/>
            <p:nvPr/>
          </p:nvSpPr>
          <p:spPr>
            <a:xfrm rot="0">
              <a:off x="0" y="165100"/>
              <a:ext cx="88900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spc="13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CLOUDFLOW  /  CUSTOMER INTELLIGENCE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20751800" y="165100"/>
              <a:ext cx="11938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>
                  <a:solidFill>
                    <a:srgbClr val="48E27B"/>
                  </a:solidFill>
                  <a:latin typeface="DM Sans"/>
                  <a:ea typeface="DM Sans"/>
                  <a:cs typeface="DM Sans"/>
                  <a:sym typeface="DM Sans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23900"/>
            <a:ext cx="1047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Analytical Framework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095500"/>
            <a:ext cx="5029200" cy="5715000"/>
            <a:chOff x="0" y="0"/>
            <a:chExt cx="6705600" cy="7620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705600" cy="7620000"/>
              <a:chOff x="0" y="0"/>
              <a:chExt cx="6705600" cy="762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056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7591137"/>
                    </a:lnTo>
                    <a:cubicBezTo>
                      <a:pt x="6705600" y="7598791"/>
                      <a:pt x="6702559" y="7606133"/>
                      <a:pt x="6697146" y="7611546"/>
                    </a:cubicBezTo>
                    <a:cubicBezTo>
                      <a:pt x="6691733" y="7616959"/>
                      <a:pt x="6684391" y="7620000"/>
                      <a:pt x="6676737" y="7620000"/>
                    </a:cubicBezTo>
                    <a:lnTo>
                      <a:pt x="28864" y="7620000"/>
                    </a:lnTo>
                    <a:cubicBezTo>
                      <a:pt x="21209" y="7620000"/>
                      <a:pt x="13867" y="7616959"/>
                      <a:pt x="8454" y="7611546"/>
                    </a:cubicBezTo>
                    <a:cubicBezTo>
                      <a:pt x="3041" y="7606133"/>
                      <a:pt x="0" y="7598791"/>
                      <a:pt x="0" y="7591137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381000" y="593725"/>
              <a:ext cx="1651000" cy="798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43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81000" y="1914525"/>
              <a:ext cx="5715000" cy="821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F5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CUSTOMER &amp; CHURN 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81000" y="3362325"/>
              <a:ext cx="5715000" cy="1814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6"/>
                </a:lnSpc>
              </a:pPr>
              <a:r>
                <a:rPr lang="en-US" sz="172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Active vs Churned Customers</a:t>
              </a:r>
            </a:p>
            <a:p>
              <a:pPr algn="l">
                <a:lnSpc>
                  <a:spcPts val="2846"/>
                </a:lnSpc>
              </a:pPr>
              <a:r>
                <a:rPr lang="en-US" sz="172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Churn Rate · Churn Reasons</a:t>
              </a:r>
            </a:p>
            <a:p>
              <a:pPr algn="l">
                <a:lnSpc>
                  <a:spcPts val="2846"/>
                </a:lnSpc>
              </a:pPr>
              <a:r>
                <a:rPr lang="en-US" sz="172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Satisfaction · Product Usage</a:t>
              </a:r>
            </a:p>
            <a:p>
              <a:pPr algn="l">
                <a:lnSpc>
                  <a:spcPts val="2846"/>
                </a:lnSpc>
              </a:pPr>
              <a:r>
                <a:rPr lang="en-US" sz="172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Cohort Churn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0800" y="2095500"/>
            <a:ext cx="5029200" cy="5715000"/>
            <a:chOff x="0" y="0"/>
            <a:chExt cx="6705600" cy="7620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705600" cy="7620000"/>
              <a:chOff x="0" y="0"/>
              <a:chExt cx="6705600" cy="762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7056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7591137"/>
                    </a:lnTo>
                    <a:cubicBezTo>
                      <a:pt x="6705600" y="7598791"/>
                      <a:pt x="6702559" y="7606133"/>
                      <a:pt x="6697146" y="7611546"/>
                    </a:cubicBezTo>
                    <a:cubicBezTo>
                      <a:pt x="6691733" y="7616959"/>
                      <a:pt x="6684391" y="7620000"/>
                      <a:pt x="6676737" y="7620000"/>
                    </a:cubicBezTo>
                    <a:lnTo>
                      <a:pt x="28864" y="7620000"/>
                    </a:lnTo>
                    <a:cubicBezTo>
                      <a:pt x="21209" y="7620000"/>
                      <a:pt x="13867" y="7616959"/>
                      <a:pt x="8454" y="7611546"/>
                    </a:cubicBezTo>
                    <a:cubicBezTo>
                      <a:pt x="3041" y="7606133"/>
                      <a:pt x="0" y="7598791"/>
                      <a:pt x="0" y="7591137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1000" y="593725"/>
              <a:ext cx="1651000" cy="798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43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1000" y="19145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F5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REVENUE &amp; LTV ANALYSIS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3362325"/>
              <a:ext cx="5715000" cy="1814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6"/>
                </a:lnSpc>
              </a:pPr>
              <a:r>
                <a:rPr lang="en-US" sz="172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Net MRR · Annualized Revenue</a:t>
              </a:r>
            </a:p>
            <a:p>
              <a:pPr algn="l">
                <a:lnSpc>
                  <a:spcPts val="2846"/>
                </a:lnSpc>
              </a:pPr>
              <a:r>
                <a:rPr lang="en-US" sz="172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Customer Lifetime Revenue</a:t>
              </a:r>
            </a:p>
            <a:p>
              <a:pPr algn="l">
                <a:lnSpc>
                  <a:spcPts val="2846"/>
                </a:lnSpc>
              </a:pPr>
              <a:r>
                <a:rPr lang="en-US" sz="172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Customer Tenure · Plan Performance</a:t>
              </a:r>
            </a:p>
            <a:p>
              <a:pPr algn="l">
                <a:lnSpc>
                  <a:spcPts val="2846"/>
                </a:lnSpc>
              </a:pPr>
              <a:r>
                <a:rPr lang="en-US" sz="172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Industry Value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87200" y="2095500"/>
            <a:ext cx="5029200" cy="5715000"/>
            <a:chOff x="0" y="0"/>
            <a:chExt cx="6705600" cy="7620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705600" cy="7620000"/>
              <a:chOff x="0" y="0"/>
              <a:chExt cx="6705600" cy="762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705600" cy="7620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0" w="6705600">
                    <a:moveTo>
                      <a:pt x="28864" y="0"/>
                    </a:moveTo>
                    <a:lnTo>
                      <a:pt x="6676737" y="0"/>
                    </a:lnTo>
                    <a:cubicBezTo>
                      <a:pt x="6684391" y="0"/>
                      <a:pt x="6691733" y="3041"/>
                      <a:pt x="6697146" y="8454"/>
                    </a:cubicBezTo>
                    <a:cubicBezTo>
                      <a:pt x="6702559" y="13867"/>
                      <a:pt x="6705600" y="21209"/>
                      <a:pt x="6705600" y="28864"/>
                    </a:cubicBezTo>
                    <a:lnTo>
                      <a:pt x="6705600" y="7591137"/>
                    </a:lnTo>
                    <a:cubicBezTo>
                      <a:pt x="6705600" y="7598791"/>
                      <a:pt x="6702559" y="7606133"/>
                      <a:pt x="6697146" y="7611546"/>
                    </a:cubicBezTo>
                    <a:cubicBezTo>
                      <a:pt x="6691733" y="7616959"/>
                      <a:pt x="6684391" y="7620000"/>
                      <a:pt x="6676737" y="7620000"/>
                    </a:cubicBezTo>
                    <a:lnTo>
                      <a:pt x="28864" y="7620000"/>
                    </a:lnTo>
                    <a:cubicBezTo>
                      <a:pt x="21209" y="7620000"/>
                      <a:pt x="13867" y="7616959"/>
                      <a:pt x="8454" y="7611546"/>
                    </a:cubicBezTo>
                    <a:cubicBezTo>
                      <a:pt x="3041" y="7606133"/>
                      <a:pt x="0" y="7598791"/>
                      <a:pt x="0" y="7591137"/>
                    </a:cubicBezTo>
                    <a:lnTo>
                      <a:pt x="0" y="28864"/>
                    </a:lnTo>
                    <a:cubicBezTo>
                      <a:pt x="0" y="21209"/>
                      <a:pt x="3041" y="13867"/>
                      <a:pt x="8454" y="8454"/>
                    </a:cubicBezTo>
                    <a:cubicBezTo>
                      <a:pt x="13867" y="3041"/>
                      <a:pt x="21209" y="0"/>
                      <a:pt x="28864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381000" y="593725"/>
              <a:ext cx="1651000" cy="798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435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81000" y="1914525"/>
              <a:ext cx="5715000" cy="821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2100" b="true">
                  <a:solidFill>
                    <a:srgbClr val="F5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ACQUISITION &amp; COHORT ANALYSIS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81000" y="3362325"/>
              <a:ext cx="5715000" cy="1344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6"/>
                </a:lnSpc>
              </a:pPr>
              <a:r>
                <a:rPr lang="en-US" sz="172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Acquisition Channels · Channel Churn</a:t>
              </a:r>
            </a:p>
            <a:p>
              <a:pPr algn="l">
                <a:lnSpc>
                  <a:spcPts val="2846"/>
                </a:lnSpc>
              </a:pPr>
              <a:r>
                <a:rPr lang="en-US" sz="172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Channel LTV · Acquisition Trend</a:t>
              </a:r>
            </a:p>
            <a:p>
              <a:pPr algn="l">
                <a:lnSpc>
                  <a:spcPts val="2846"/>
                </a:lnSpc>
              </a:pPr>
              <a:r>
                <a:rPr lang="en-US" sz="172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Cohort Churn · Cohort Value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9615488"/>
            <a:ext cx="16459200" cy="309562"/>
            <a:chOff x="0" y="0"/>
            <a:chExt cx="21945600" cy="412750"/>
          </a:xfrm>
        </p:grpSpPr>
        <p:sp>
          <p:nvSpPr>
            <p:cNvPr name="AutoShape 22" id="22"/>
            <p:cNvSpPr/>
            <p:nvPr/>
          </p:nvSpPr>
          <p:spPr>
            <a:xfrm>
              <a:off x="0" y="6350"/>
              <a:ext cx="21945600" cy="0"/>
            </a:xfrm>
            <a:prstGeom prst="line">
              <a:avLst/>
            </a:prstGeom>
            <a:ln cap="flat" w="12700">
              <a:solidFill>
                <a:srgbClr val="24405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165100"/>
              <a:ext cx="88900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spc="13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CLOUDFLOW  /  CUSTOMER INTELLIGENCE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0751800" y="165100"/>
              <a:ext cx="11938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>
                  <a:solidFill>
                    <a:srgbClr val="48E27B"/>
                  </a:solidFill>
                  <a:latin typeface="DM Sans"/>
                  <a:ea typeface="DM Sans"/>
                  <a:cs typeface="DM Sans"/>
                  <a:sym typeface="DM Sans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11430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&amp; Churn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390650"/>
            <a:ext cx="136207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Understanding who churns, why they churn, and which customer characteristics are associated with retention.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3133725"/>
            <a:ext cx="8382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01   Compare active and churned customers across subscription plans.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4133850"/>
            <a:ext cx="8382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9AA8B8"/>
                </a:solidFill>
                <a:latin typeface="DM Sans"/>
                <a:ea typeface="DM Sans"/>
                <a:cs typeface="DM Sans"/>
                <a:sym typeface="DM Sans"/>
              </a:rPr>
              <a:t>02   Identify the major reasons customers leave.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5133975"/>
            <a:ext cx="8382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9AA8B8"/>
                </a:solidFill>
                <a:latin typeface="DM Sans"/>
                <a:ea typeface="DM Sans"/>
                <a:cs typeface="DM Sans"/>
                <a:sym typeface="DM Sans"/>
              </a:rPr>
              <a:t>03   Examine churn differences across company-size segments.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6134100"/>
            <a:ext cx="8382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9AA8B8"/>
                </a:solidFill>
                <a:latin typeface="DM Sans"/>
                <a:ea typeface="DM Sans"/>
                <a:cs typeface="DM Sans"/>
                <a:sym typeface="DM Sans"/>
              </a:rPr>
              <a:t>04   Explore how satisfaction and product usage relate to retention.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7134225"/>
            <a:ext cx="8382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9AA8B8"/>
                </a:solidFill>
                <a:latin typeface="DM Sans"/>
                <a:ea typeface="DM Sans"/>
                <a:cs typeface="DM Sans"/>
                <a:sym typeface="DM Sans"/>
              </a:rPr>
              <a:t>05   Track observed churn across customer cohorts.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77500" y="2762250"/>
            <a:ext cx="6286500" cy="2857500"/>
            <a:chOff x="0" y="0"/>
            <a:chExt cx="8382000" cy="3810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382000" cy="3810000"/>
              <a:chOff x="0" y="0"/>
              <a:chExt cx="8382000" cy="381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382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8382000">
                    <a:moveTo>
                      <a:pt x="23091" y="0"/>
                    </a:moveTo>
                    <a:lnTo>
                      <a:pt x="8358909" y="0"/>
                    </a:lnTo>
                    <a:cubicBezTo>
                      <a:pt x="8371662" y="0"/>
                      <a:pt x="8382000" y="10338"/>
                      <a:pt x="8382000" y="23091"/>
                    </a:cubicBezTo>
                    <a:lnTo>
                      <a:pt x="8382000" y="3786909"/>
                    </a:lnTo>
                    <a:cubicBezTo>
                      <a:pt x="8382000" y="3799662"/>
                      <a:pt x="8371662" y="3810000"/>
                      <a:pt x="8358909" y="3810000"/>
                    </a:cubicBezTo>
                    <a:lnTo>
                      <a:pt x="23091" y="3810000"/>
                    </a:lnTo>
                    <a:cubicBezTo>
                      <a:pt x="10338" y="3810000"/>
                      <a:pt x="0" y="3799662"/>
                      <a:pt x="0" y="3786909"/>
                    </a:cubicBezTo>
                    <a:lnTo>
                      <a:pt x="0" y="23091"/>
                    </a:lnTo>
                    <a:cubicBezTo>
                      <a:pt x="0" y="10338"/>
                      <a:pt x="10338" y="0"/>
                      <a:pt x="23091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1000" y="482600"/>
              <a:ext cx="7620000" cy="1849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60"/>
                </a:lnSpc>
              </a:pPr>
              <a:r>
                <a:rPr lang="en-US" sz="840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18.99%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1000" y="2419350"/>
              <a:ext cx="762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b="true" sz="1350" spc="162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OVERALL CHURN RATE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77500" y="6191250"/>
            <a:ext cx="2857500" cy="1619250"/>
            <a:chOff x="0" y="0"/>
            <a:chExt cx="3810000" cy="2159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810000" cy="2159000"/>
              <a:chOff x="0" y="0"/>
              <a:chExt cx="3810000" cy="2159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810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3810000">
                    <a:moveTo>
                      <a:pt x="50800" y="0"/>
                    </a:moveTo>
                    <a:lnTo>
                      <a:pt x="3759200" y="0"/>
                    </a:lnTo>
                    <a:cubicBezTo>
                      <a:pt x="3787256" y="0"/>
                      <a:pt x="3810000" y="22744"/>
                      <a:pt x="3810000" y="50800"/>
                    </a:cubicBezTo>
                    <a:lnTo>
                      <a:pt x="3810000" y="2108200"/>
                    </a:lnTo>
                    <a:cubicBezTo>
                      <a:pt x="3810000" y="2136256"/>
                      <a:pt x="3787256" y="2159000"/>
                      <a:pt x="3759200" y="2159000"/>
                    </a:cubicBezTo>
                    <a:lnTo>
                      <a:pt x="50800" y="2159000"/>
                    </a:lnTo>
                    <a:cubicBezTo>
                      <a:pt x="22744" y="2159000"/>
                      <a:pt x="0" y="2136256"/>
                      <a:pt x="0" y="2108200"/>
                    </a:cubicBez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381000" y="314325"/>
              <a:ext cx="3429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5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8,101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81000" y="1250950"/>
              <a:ext cx="342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b="true" sz="1350" spc="162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ACTIVE CUSTOMERS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620750" y="6191250"/>
            <a:ext cx="3143250" cy="1619250"/>
            <a:chOff x="0" y="0"/>
            <a:chExt cx="4191000" cy="2159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191000" cy="2159000"/>
              <a:chOff x="0" y="0"/>
              <a:chExt cx="4191000" cy="2159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191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4191000">
                    <a:moveTo>
                      <a:pt x="46182" y="0"/>
                    </a:moveTo>
                    <a:lnTo>
                      <a:pt x="4144818" y="0"/>
                    </a:lnTo>
                    <a:cubicBezTo>
                      <a:pt x="4170324" y="0"/>
                      <a:pt x="4191000" y="20676"/>
                      <a:pt x="4191000" y="46182"/>
                    </a:cubicBezTo>
                    <a:lnTo>
                      <a:pt x="4191000" y="2112818"/>
                    </a:lnTo>
                    <a:cubicBezTo>
                      <a:pt x="4191000" y="2138324"/>
                      <a:pt x="4170324" y="2159000"/>
                      <a:pt x="4144818" y="2159000"/>
                    </a:cubicBezTo>
                    <a:lnTo>
                      <a:pt x="46182" y="2159000"/>
                    </a:lnTo>
                    <a:cubicBezTo>
                      <a:pt x="20676" y="2159000"/>
                      <a:pt x="0" y="2138324"/>
                      <a:pt x="0" y="2112818"/>
                    </a:cubicBezTo>
                    <a:lnTo>
                      <a:pt x="0" y="46182"/>
                    </a:lnTo>
                    <a:cubicBezTo>
                      <a:pt x="0" y="20676"/>
                      <a:pt x="20676" y="0"/>
                      <a:pt x="46182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381000" y="314325"/>
              <a:ext cx="3429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5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1,899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1000" y="1250950"/>
              <a:ext cx="342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b="true" sz="1350" spc="162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CHURNED CUSTOMERS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615488"/>
            <a:ext cx="16459200" cy="309562"/>
            <a:chOff x="0" y="0"/>
            <a:chExt cx="21945600" cy="412750"/>
          </a:xfrm>
        </p:grpSpPr>
        <p:sp>
          <p:nvSpPr>
            <p:cNvPr name="AutoShape 25" id="25"/>
            <p:cNvSpPr/>
            <p:nvPr/>
          </p:nvSpPr>
          <p:spPr>
            <a:xfrm>
              <a:off x="0" y="6350"/>
              <a:ext cx="21945600" cy="0"/>
            </a:xfrm>
            <a:prstGeom prst="line">
              <a:avLst/>
            </a:prstGeom>
            <a:ln cap="flat" w="12700">
              <a:solidFill>
                <a:srgbClr val="24405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0" y="165100"/>
              <a:ext cx="88900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spc="13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CLOUDFLOW  /  CUSTOMER INTELLIGENCE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0751800" y="165100"/>
              <a:ext cx="11938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>
                  <a:solidFill>
                    <a:srgbClr val="48E27B"/>
                  </a:solidFill>
                  <a:latin typeface="DM Sans"/>
                  <a:ea typeface="DM Sans"/>
                  <a:cs typeface="DM Sans"/>
                  <a:sym typeface="DM Sans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615488"/>
            <a:ext cx="16459200" cy="309562"/>
            <a:chOff x="0" y="0"/>
            <a:chExt cx="21945600" cy="412750"/>
          </a:xfrm>
        </p:grpSpPr>
        <p:sp>
          <p:nvSpPr>
            <p:cNvPr name="AutoShape 3" id="3"/>
            <p:cNvSpPr/>
            <p:nvPr/>
          </p:nvSpPr>
          <p:spPr>
            <a:xfrm>
              <a:off x="0" y="6350"/>
              <a:ext cx="21945600" cy="0"/>
            </a:xfrm>
            <a:prstGeom prst="line">
              <a:avLst/>
            </a:prstGeom>
            <a:ln cap="flat" w="12700">
              <a:solidFill>
                <a:srgbClr val="24405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65100"/>
              <a:ext cx="88900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spc="13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CLOUDFLOW  /  CUSTOMER INTELLIGENCE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751800" y="165100"/>
              <a:ext cx="11938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>
                  <a:solidFill>
                    <a:srgbClr val="48E27B"/>
                  </a:solidFill>
                  <a:latin typeface="DM Sans"/>
                  <a:ea typeface="DM Sans"/>
                  <a:cs typeface="DM Sans"/>
                  <a:sym typeface="DM Sans"/>
                </a:rPr>
                <a:t>08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" y="1754632"/>
            <a:ext cx="16246473" cy="7860856"/>
          </a:xfrm>
          <a:custGeom>
            <a:avLst/>
            <a:gdLst/>
            <a:ahLst/>
            <a:cxnLst/>
            <a:rect r="r" b="b" t="t" l="l"/>
            <a:pathLst>
              <a:path h="7860856" w="16246473">
                <a:moveTo>
                  <a:pt x="0" y="0"/>
                </a:moveTo>
                <a:lnTo>
                  <a:pt x="16246473" y="0"/>
                </a:lnTo>
                <a:lnTo>
                  <a:pt x="16246473" y="7860856"/>
                </a:lnTo>
                <a:lnTo>
                  <a:pt x="0" y="7860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1" t="0" r="-321" b="-40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" y="590550"/>
            <a:ext cx="1428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SaaS Customer Intelligence 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1323975"/>
            <a:ext cx="14287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9AA8B8"/>
                </a:solidFill>
                <a:latin typeface="DM Sans"/>
                <a:ea typeface="DM Sans"/>
                <a:cs typeface="DM Sans"/>
                <a:sym typeface="DM Sans"/>
              </a:rPr>
              <a:t>Interactive Excel dashboard consolidating customer, churn, revenue, acquisition, and cohort insights.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1381125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&amp; Customer Lifetime Value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381250"/>
            <a:ext cx="7239000" cy="5334000"/>
            <a:chOff x="0" y="0"/>
            <a:chExt cx="9652000" cy="7112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7112000"/>
              <a:chOff x="0" y="0"/>
              <a:chExt cx="9652000" cy="7112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9652000">
                    <a:moveTo>
                      <a:pt x="20053" y="0"/>
                    </a:moveTo>
                    <a:lnTo>
                      <a:pt x="9631948" y="0"/>
                    </a:lnTo>
                    <a:cubicBezTo>
                      <a:pt x="9643022" y="0"/>
                      <a:pt x="9652000" y="8978"/>
                      <a:pt x="9652000" y="20053"/>
                    </a:cubicBezTo>
                    <a:lnTo>
                      <a:pt x="9652000" y="7091948"/>
                    </a:lnTo>
                    <a:cubicBezTo>
                      <a:pt x="9652000" y="7103022"/>
                      <a:pt x="9643022" y="7112000"/>
                      <a:pt x="9631948" y="7112000"/>
                    </a:cubicBezTo>
                    <a:lnTo>
                      <a:pt x="20053" y="7112000"/>
                    </a:lnTo>
                    <a:cubicBezTo>
                      <a:pt x="8978" y="7112000"/>
                      <a:pt x="0" y="7103022"/>
                      <a:pt x="0" y="7091948"/>
                    </a:cubicBezTo>
                    <a:lnTo>
                      <a:pt x="0" y="20053"/>
                    </a:lnTo>
                    <a:cubicBezTo>
                      <a:pt x="0" y="8978"/>
                      <a:pt x="8978" y="0"/>
                      <a:pt x="20053" y="0"/>
                    </a:cubicBezTo>
                    <a:close/>
                  </a:path>
                </a:pathLst>
              </a:custGeom>
              <a:solidFill>
                <a:srgbClr val="48E27B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558800" y="1327150"/>
              <a:ext cx="8255000" cy="1405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19"/>
                </a:lnSpc>
              </a:pPr>
              <a:r>
                <a:rPr lang="en-US" sz="6300" b="true">
                  <a:solidFill>
                    <a:srgbClr val="0711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≈ ₹1.37 lakh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193800" y="3101975"/>
              <a:ext cx="6985000" cy="656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8"/>
                </a:lnSpc>
              </a:pPr>
              <a:r>
                <a:rPr lang="en-US" sz="1575" b="true">
                  <a:solidFill>
                    <a:srgbClr val="0711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AVERAGE CUSTOMER</a:t>
              </a:r>
            </a:p>
            <a:p>
              <a:pPr algn="ctr">
                <a:lnSpc>
                  <a:spcPts val="1968"/>
                </a:lnSpc>
              </a:pPr>
              <a:r>
                <a:rPr lang="en-US" sz="1575" b="true">
                  <a:solidFill>
                    <a:srgbClr val="0711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LIFETIME REVENUE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82000" y="2095500"/>
            <a:ext cx="8382000" cy="2857500"/>
            <a:chOff x="0" y="0"/>
            <a:chExt cx="11176000" cy="3810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176000" cy="3810000"/>
              <a:chOff x="0" y="0"/>
              <a:chExt cx="11176000" cy="381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176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11176000">
                    <a:moveTo>
                      <a:pt x="17318" y="0"/>
                    </a:moveTo>
                    <a:lnTo>
                      <a:pt x="11158682" y="0"/>
                    </a:lnTo>
                    <a:cubicBezTo>
                      <a:pt x="11163275" y="0"/>
                      <a:pt x="11167680" y="1825"/>
                      <a:pt x="11170927" y="5072"/>
                    </a:cubicBezTo>
                    <a:cubicBezTo>
                      <a:pt x="11174175" y="8320"/>
                      <a:pt x="11176000" y="12725"/>
                      <a:pt x="11176000" y="17318"/>
                    </a:cubicBezTo>
                    <a:lnTo>
                      <a:pt x="11176000" y="3792682"/>
                    </a:lnTo>
                    <a:cubicBezTo>
                      <a:pt x="11176000" y="3797275"/>
                      <a:pt x="11174175" y="3801680"/>
                      <a:pt x="11170927" y="3804927"/>
                    </a:cubicBezTo>
                    <a:cubicBezTo>
                      <a:pt x="11167680" y="3808175"/>
                      <a:pt x="11163275" y="3810000"/>
                      <a:pt x="11158682" y="3810000"/>
                    </a:cubicBezTo>
                    <a:lnTo>
                      <a:pt x="17318" y="3810000"/>
                    </a:lnTo>
                    <a:cubicBezTo>
                      <a:pt x="12725" y="3810000"/>
                      <a:pt x="8320" y="3808175"/>
                      <a:pt x="5072" y="3804927"/>
                    </a:cubicBezTo>
                    <a:cubicBezTo>
                      <a:pt x="1825" y="3801680"/>
                      <a:pt x="0" y="3797275"/>
                      <a:pt x="0" y="3792682"/>
                    </a:cubicBezTo>
                    <a:lnTo>
                      <a:pt x="0" y="17318"/>
                    </a:lnTo>
                    <a:cubicBezTo>
                      <a:pt x="0" y="12725"/>
                      <a:pt x="1825" y="8320"/>
                      <a:pt x="5072" y="5072"/>
                    </a:cubicBezTo>
                    <a:cubicBezTo>
                      <a:pt x="8320" y="1825"/>
                      <a:pt x="12725" y="0"/>
                      <a:pt x="1731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508000" y="3619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REVENUE SNAPSHOT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08000" y="1092200"/>
              <a:ext cx="9525000" cy="178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₹69.85 lakh   Current Net MRR</a:t>
              </a:r>
            </a:p>
            <a:p>
              <a:pPr algn="l">
                <a:lnSpc>
                  <a:spcPts val="3675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₹8.38 crore   Annualized Revenue</a:t>
              </a:r>
            </a:p>
            <a:p>
              <a:pPr algn="l">
                <a:lnSpc>
                  <a:spcPts val="3675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85%   MRR from Active Customers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382000" y="5334000"/>
            <a:ext cx="8382000" cy="3048000"/>
            <a:chOff x="0" y="0"/>
            <a:chExt cx="11176000" cy="4064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1176000" cy="4064000"/>
              <a:chOff x="0" y="0"/>
              <a:chExt cx="11176000" cy="4064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1760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11176000">
                    <a:moveTo>
                      <a:pt x="17318" y="0"/>
                    </a:moveTo>
                    <a:lnTo>
                      <a:pt x="11158682" y="0"/>
                    </a:lnTo>
                    <a:cubicBezTo>
                      <a:pt x="11163275" y="0"/>
                      <a:pt x="11167680" y="1825"/>
                      <a:pt x="11170927" y="5072"/>
                    </a:cubicBezTo>
                    <a:cubicBezTo>
                      <a:pt x="11174175" y="8320"/>
                      <a:pt x="11176000" y="12725"/>
                      <a:pt x="11176000" y="17318"/>
                    </a:cubicBezTo>
                    <a:lnTo>
                      <a:pt x="11176000" y="4046682"/>
                    </a:lnTo>
                    <a:cubicBezTo>
                      <a:pt x="11176000" y="4051275"/>
                      <a:pt x="11174175" y="4055680"/>
                      <a:pt x="11170927" y="4058927"/>
                    </a:cubicBezTo>
                    <a:cubicBezTo>
                      <a:pt x="11167680" y="4062175"/>
                      <a:pt x="11163275" y="4064000"/>
                      <a:pt x="11158682" y="4064000"/>
                    </a:cubicBezTo>
                    <a:lnTo>
                      <a:pt x="17318" y="4064000"/>
                    </a:lnTo>
                    <a:cubicBezTo>
                      <a:pt x="12725" y="4064000"/>
                      <a:pt x="8320" y="4062175"/>
                      <a:pt x="5072" y="4058927"/>
                    </a:cubicBezTo>
                    <a:cubicBezTo>
                      <a:pt x="1825" y="4055680"/>
                      <a:pt x="0" y="4051275"/>
                      <a:pt x="0" y="4046682"/>
                    </a:cubicBezTo>
                    <a:lnTo>
                      <a:pt x="0" y="17318"/>
                    </a:lnTo>
                    <a:cubicBezTo>
                      <a:pt x="0" y="12725"/>
                      <a:pt x="1825" y="8320"/>
                      <a:pt x="5072" y="5072"/>
                    </a:cubicBezTo>
                    <a:cubicBezTo>
                      <a:pt x="8320" y="1825"/>
                      <a:pt x="12725" y="0"/>
                      <a:pt x="1731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254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 VALUE SNAPSHOT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08000" y="1095375"/>
              <a:ext cx="10033000" cy="1723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3"/>
                </a:lnSpc>
              </a:pPr>
              <a:r>
                <a:rPr lang="en-US" sz="17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₹1.37 lakh   Average Customer Lifetime Revenue</a:t>
              </a:r>
            </a:p>
            <a:p>
              <a:pPr algn="l">
                <a:lnSpc>
                  <a:spcPts val="2673"/>
                </a:lnSpc>
              </a:pPr>
              <a:r>
                <a:rPr lang="en-US" sz="17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18.72 months   Average Customer Tenure</a:t>
              </a:r>
            </a:p>
            <a:p>
              <a:pPr algn="l">
                <a:lnSpc>
                  <a:spcPts val="2673"/>
                </a:lnSpc>
              </a:pPr>
              <a:r>
                <a:rPr lang="en-US" sz="17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Financial Services   Highest Average LTV Industry</a:t>
              </a:r>
            </a:p>
            <a:p>
              <a:pPr algn="l">
                <a:lnSpc>
                  <a:spcPts val="2673"/>
                </a:lnSpc>
              </a:pPr>
              <a:r>
                <a:rPr lang="en-US" sz="17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E-commerce &amp; Retail   Lowest Average LTV Industry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14400" y="8696325"/>
            <a:ext cx="152400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i="true">
                <a:solidFill>
                  <a:srgbClr val="9AA8B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Longer customer tenure generally increases observed lifetime revenue.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4400" y="9615488"/>
            <a:ext cx="16459200" cy="309562"/>
            <a:chOff x="0" y="0"/>
            <a:chExt cx="21945600" cy="412750"/>
          </a:xfrm>
        </p:grpSpPr>
        <p:sp>
          <p:nvSpPr>
            <p:cNvPr name="AutoShape 20" id="20"/>
            <p:cNvSpPr/>
            <p:nvPr/>
          </p:nvSpPr>
          <p:spPr>
            <a:xfrm>
              <a:off x="0" y="6350"/>
              <a:ext cx="21945600" cy="0"/>
            </a:xfrm>
            <a:prstGeom prst="line">
              <a:avLst/>
            </a:prstGeom>
            <a:ln cap="flat" w="12700">
              <a:solidFill>
                <a:srgbClr val="24405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165100"/>
              <a:ext cx="88900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spc="13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CLOUDFLOW  /  CUSTOMER INTELLIGENCE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751800" y="165100"/>
              <a:ext cx="11938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>
                  <a:solidFill>
                    <a:srgbClr val="48E27B"/>
                  </a:solidFill>
                  <a:latin typeface="DM Sans"/>
                  <a:ea typeface="DM Sans"/>
                  <a:cs typeface="DM Sans"/>
                  <a:sym typeface="DM Sans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12382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Acquisition &amp; Cohort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2381250"/>
            <a:ext cx="619125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5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Organic Search is the largest acquisition channel, accounting for 24% of customers.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5391150"/>
            <a:ext cx="61912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AA8B8"/>
                </a:solidFill>
                <a:latin typeface="DM Sans"/>
                <a:ea typeface="DM Sans"/>
                <a:cs typeface="DM Sans"/>
                <a:sym typeface="DM Sans"/>
              </a:rPr>
              <a:t>Cohort performance varies across acquisition periods, while newer cohorts have had less time to mature.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382000" y="1714500"/>
            <a:ext cx="8382000" cy="4000500"/>
            <a:chOff x="0" y="0"/>
            <a:chExt cx="11176000" cy="5334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1176000" cy="5334000"/>
              <a:chOff x="0" y="0"/>
              <a:chExt cx="11176000" cy="5334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176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11176000">
                    <a:moveTo>
                      <a:pt x="17318" y="0"/>
                    </a:moveTo>
                    <a:lnTo>
                      <a:pt x="11158682" y="0"/>
                    </a:lnTo>
                    <a:cubicBezTo>
                      <a:pt x="11163275" y="0"/>
                      <a:pt x="11167680" y="1825"/>
                      <a:pt x="11170927" y="5072"/>
                    </a:cubicBezTo>
                    <a:cubicBezTo>
                      <a:pt x="11174175" y="8320"/>
                      <a:pt x="11176000" y="12725"/>
                      <a:pt x="11176000" y="17318"/>
                    </a:cubicBezTo>
                    <a:lnTo>
                      <a:pt x="11176000" y="5316682"/>
                    </a:lnTo>
                    <a:cubicBezTo>
                      <a:pt x="11176000" y="5321275"/>
                      <a:pt x="11174175" y="5325680"/>
                      <a:pt x="11170927" y="5328927"/>
                    </a:cubicBezTo>
                    <a:cubicBezTo>
                      <a:pt x="11167680" y="5332175"/>
                      <a:pt x="11163275" y="5334000"/>
                      <a:pt x="11158682" y="5334000"/>
                    </a:cubicBezTo>
                    <a:lnTo>
                      <a:pt x="17318" y="5334000"/>
                    </a:lnTo>
                    <a:cubicBezTo>
                      <a:pt x="12725" y="5334000"/>
                      <a:pt x="8320" y="5332175"/>
                      <a:pt x="5072" y="5328927"/>
                    </a:cubicBezTo>
                    <a:cubicBezTo>
                      <a:pt x="1825" y="5325680"/>
                      <a:pt x="0" y="5321275"/>
                      <a:pt x="0" y="5316682"/>
                    </a:cubicBezTo>
                    <a:lnTo>
                      <a:pt x="0" y="17318"/>
                    </a:lnTo>
                    <a:cubicBezTo>
                      <a:pt x="0" y="12725"/>
                      <a:pt x="1825" y="8320"/>
                      <a:pt x="5072" y="5072"/>
                    </a:cubicBezTo>
                    <a:cubicBezTo>
                      <a:pt x="8320" y="1825"/>
                      <a:pt x="12725" y="0"/>
                      <a:pt x="1731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508000" y="4254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ACQUISITION SNAPSHOT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08000" y="1139825"/>
              <a:ext cx="9144000" cy="3070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38"/>
                </a:lnSpc>
              </a:pPr>
              <a:r>
                <a:rPr lang="en-US" sz="20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2,395  |  Organic Search</a:t>
              </a:r>
            </a:p>
            <a:p>
              <a:pPr algn="l">
                <a:lnSpc>
                  <a:spcPts val="3138"/>
                </a:lnSpc>
              </a:pPr>
              <a:r>
                <a:rPr lang="en-US" sz="20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1,895  |  Paid Ads</a:t>
              </a:r>
            </a:p>
            <a:p>
              <a:pPr algn="l">
                <a:lnSpc>
                  <a:spcPts val="3138"/>
                </a:lnSpc>
              </a:pPr>
              <a:r>
                <a:rPr lang="en-US" sz="20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1,752  |  Referral</a:t>
              </a:r>
            </a:p>
            <a:p>
              <a:pPr algn="l">
                <a:lnSpc>
                  <a:spcPts val="3138"/>
                </a:lnSpc>
              </a:pPr>
              <a:r>
                <a:rPr lang="en-US" sz="20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1,621  |  Sales Team</a:t>
              </a:r>
            </a:p>
            <a:p>
              <a:pPr algn="l">
                <a:lnSpc>
                  <a:spcPts val="3138"/>
                </a:lnSpc>
              </a:pPr>
              <a:r>
                <a:rPr lang="en-US" sz="20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1,201  |  Social Media</a:t>
              </a:r>
            </a:p>
            <a:p>
              <a:pPr algn="l">
                <a:lnSpc>
                  <a:spcPts val="3138"/>
                </a:lnSpc>
              </a:pPr>
              <a:r>
                <a:rPr lang="en-US" sz="20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1,136  |  Partner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382000" y="5905500"/>
            <a:ext cx="8382000" cy="2571750"/>
            <a:chOff x="0" y="0"/>
            <a:chExt cx="11176000" cy="3429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176000" cy="3429000"/>
              <a:chOff x="0" y="0"/>
              <a:chExt cx="11176000" cy="3429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176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11176000">
                    <a:moveTo>
                      <a:pt x="17318" y="0"/>
                    </a:moveTo>
                    <a:lnTo>
                      <a:pt x="11158682" y="0"/>
                    </a:lnTo>
                    <a:cubicBezTo>
                      <a:pt x="11163275" y="0"/>
                      <a:pt x="11167680" y="1825"/>
                      <a:pt x="11170927" y="5072"/>
                    </a:cubicBezTo>
                    <a:cubicBezTo>
                      <a:pt x="11174175" y="8320"/>
                      <a:pt x="11176000" y="12725"/>
                      <a:pt x="11176000" y="17318"/>
                    </a:cubicBezTo>
                    <a:lnTo>
                      <a:pt x="11176000" y="3411682"/>
                    </a:lnTo>
                    <a:cubicBezTo>
                      <a:pt x="11176000" y="3416275"/>
                      <a:pt x="11174175" y="3420680"/>
                      <a:pt x="11170927" y="3423927"/>
                    </a:cubicBezTo>
                    <a:cubicBezTo>
                      <a:pt x="11167680" y="3427175"/>
                      <a:pt x="11163275" y="3429000"/>
                      <a:pt x="11158682" y="3429000"/>
                    </a:cubicBezTo>
                    <a:lnTo>
                      <a:pt x="17318" y="3429000"/>
                    </a:lnTo>
                    <a:cubicBezTo>
                      <a:pt x="12725" y="3429000"/>
                      <a:pt x="8320" y="3427175"/>
                      <a:pt x="5072" y="3423927"/>
                    </a:cubicBezTo>
                    <a:cubicBezTo>
                      <a:pt x="1825" y="3420680"/>
                      <a:pt x="0" y="3416275"/>
                      <a:pt x="0" y="3411682"/>
                    </a:cubicBezTo>
                    <a:lnTo>
                      <a:pt x="0" y="17318"/>
                    </a:lnTo>
                    <a:cubicBezTo>
                      <a:pt x="0" y="12725"/>
                      <a:pt x="1825" y="8320"/>
                      <a:pt x="5072" y="5072"/>
                    </a:cubicBezTo>
                    <a:cubicBezTo>
                      <a:pt x="8320" y="1825"/>
                      <a:pt x="12725" y="0"/>
                      <a:pt x="17318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08000" y="361950"/>
              <a:ext cx="889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48E27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COHORT &amp; RETENTION TAKEAWAYS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08000" y="1057275"/>
              <a:ext cx="9144000" cy="1607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18.99%   Overall Customer Churn Rate</a:t>
              </a:r>
            </a:p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2023–2025   Customer Acquisition Period</a:t>
              </a:r>
            </a:p>
            <a:p>
              <a:pPr algn="l">
                <a:lnSpc>
                  <a:spcPts val="3341"/>
                </a:lnSpc>
              </a:pPr>
              <a:r>
                <a:rPr lang="en-US" sz="2025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6   Acquisition Channels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9615488"/>
            <a:ext cx="16459200" cy="309562"/>
            <a:chOff x="0" y="0"/>
            <a:chExt cx="21945600" cy="412750"/>
          </a:xfrm>
        </p:grpSpPr>
        <p:sp>
          <p:nvSpPr>
            <p:cNvPr name="AutoShape 16" id="16"/>
            <p:cNvSpPr/>
            <p:nvPr/>
          </p:nvSpPr>
          <p:spPr>
            <a:xfrm>
              <a:off x="0" y="6350"/>
              <a:ext cx="21945600" cy="0"/>
            </a:xfrm>
            <a:prstGeom prst="line">
              <a:avLst/>
            </a:prstGeom>
            <a:ln cap="flat" w="12700">
              <a:solidFill>
                <a:srgbClr val="24405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65100"/>
              <a:ext cx="88900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spc="13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CLOUDFLOW  /  CUSTOMER INTELLIGENCE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0751800" y="165100"/>
              <a:ext cx="11938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>
                  <a:solidFill>
                    <a:srgbClr val="48E27B"/>
                  </a:solidFill>
                  <a:latin typeface="DM Sans"/>
                  <a:ea typeface="DM Sans"/>
                  <a:cs typeface="DM Sans"/>
                  <a:sym typeface="DM Sans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9600"/>
            <a:ext cx="1047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Business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1666875"/>
            <a:ext cx="7772400" cy="1466850"/>
            <a:chOff x="0" y="0"/>
            <a:chExt cx="10363200" cy="1955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363200" cy="1955800"/>
              <a:chOff x="0" y="0"/>
              <a:chExt cx="10363200" cy="1955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36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10363200">
                    <a:moveTo>
                      <a:pt x="18676" y="0"/>
                    </a:moveTo>
                    <a:lnTo>
                      <a:pt x="10344524" y="0"/>
                    </a:lnTo>
                    <a:cubicBezTo>
                      <a:pt x="10354838" y="0"/>
                      <a:pt x="10363200" y="8362"/>
                      <a:pt x="10363200" y="18676"/>
                    </a:cubicBezTo>
                    <a:lnTo>
                      <a:pt x="10363200" y="1937124"/>
                    </a:lnTo>
                    <a:cubicBezTo>
                      <a:pt x="10363200" y="1947438"/>
                      <a:pt x="10354838" y="1955800"/>
                      <a:pt x="10344524" y="1955800"/>
                    </a:cubicBezTo>
                    <a:lnTo>
                      <a:pt x="18676" y="1955800"/>
                    </a:lnTo>
                    <a:cubicBezTo>
                      <a:pt x="8362" y="1955800"/>
                      <a:pt x="0" y="1947438"/>
                      <a:pt x="0" y="1937124"/>
                    </a:cubicBezTo>
                    <a:lnTo>
                      <a:pt x="0" y="18676"/>
                    </a:lnTo>
                    <a:cubicBezTo>
                      <a:pt x="0" y="8362"/>
                      <a:pt x="8362" y="0"/>
                      <a:pt x="18676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304800" y="298450"/>
              <a:ext cx="1397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714500" y="311150"/>
              <a:ext cx="8318500" cy="713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10,000 customers were analyzed, with 8,101 active and 1,899 churned customers.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3476625"/>
            <a:ext cx="7772400" cy="1466850"/>
            <a:chOff x="0" y="0"/>
            <a:chExt cx="10363200" cy="19558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363200" cy="1955800"/>
              <a:chOff x="0" y="0"/>
              <a:chExt cx="10363200" cy="1955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36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10363200">
                    <a:moveTo>
                      <a:pt x="18676" y="0"/>
                    </a:moveTo>
                    <a:lnTo>
                      <a:pt x="10344524" y="0"/>
                    </a:lnTo>
                    <a:cubicBezTo>
                      <a:pt x="10354838" y="0"/>
                      <a:pt x="10363200" y="8362"/>
                      <a:pt x="10363200" y="18676"/>
                    </a:cubicBezTo>
                    <a:lnTo>
                      <a:pt x="10363200" y="1937124"/>
                    </a:lnTo>
                    <a:cubicBezTo>
                      <a:pt x="10363200" y="1947438"/>
                      <a:pt x="10354838" y="1955800"/>
                      <a:pt x="10344524" y="1955800"/>
                    </a:cubicBezTo>
                    <a:lnTo>
                      <a:pt x="18676" y="1955800"/>
                    </a:lnTo>
                    <a:cubicBezTo>
                      <a:pt x="8362" y="1955800"/>
                      <a:pt x="0" y="1947438"/>
                      <a:pt x="0" y="1937124"/>
                    </a:cubicBezTo>
                    <a:lnTo>
                      <a:pt x="0" y="18676"/>
                    </a:lnTo>
                    <a:cubicBezTo>
                      <a:pt x="0" y="8362"/>
                      <a:pt x="8362" y="0"/>
                      <a:pt x="18676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48E27B"/>
                </a:solidFill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304800" y="298450"/>
              <a:ext cx="1397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714500" y="311150"/>
              <a:ext cx="83185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Overall customer churn rate is 18.99%.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5286375"/>
            <a:ext cx="7772400" cy="1466850"/>
            <a:chOff x="0" y="0"/>
            <a:chExt cx="10363200" cy="19558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363200" cy="1955800"/>
              <a:chOff x="0" y="0"/>
              <a:chExt cx="10363200" cy="1955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36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10363200">
                    <a:moveTo>
                      <a:pt x="18676" y="0"/>
                    </a:moveTo>
                    <a:lnTo>
                      <a:pt x="10344524" y="0"/>
                    </a:lnTo>
                    <a:cubicBezTo>
                      <a:pt x="10354838" y="0"/>
                      <a:pt x="10363200" y="8362"/>
                      <a:pt x="10363200" y="18676"/>
                    </a:cubicBezTo>
                    <a:lnTo>
                      <a:pt x="10363200" y="1937124"/>
                    </a:lnTo>
                    <a:cubicBezTo>
                      <a:pt x="10363200" y="1947438"/>
                      <a:pt x="10354838" y="1955800"/>
                      <a:pt x="10344524" y="1955800"/>
                    </a:cubicBezTo>
                    <a:lnTo>
                      <a:pt x="18676" y="1955800"/>
                    </a:lnTo>
                    <a:cubicBezTo>
                      <a:pt x="8362" y="1955800"/>
                      <a:pt x="0" y="1947438"/>
                      <a:pt x="0" y="1937124"/>
                    </a:cubicBezTo>
                    <a:lnTo>
                      <a:pt x="0" y="18676"/>
                    </a:lnTo>
                    <a:cubicBezTo>
                      <a:pt x="0" y="8362"/>
                      <a:pt x="8362" y="0"/>
                      <a:pt x="18676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304800" y="298450"/>
              <a:ext cx="1397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714500" y="311150"/>
              <a:ext cx="8318500" cy="713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Basic has the highest number of churned customers among the subscription plans.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7096125"/>
            <a:ext cx="7772400" cy="1466850"/>
            <a:chOff x="0" y="0"/>
            <a:chExt cx="10363200" cy="19558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363200" cy="1955800"/>
              <a:chOff x="0" y="0"/>
              <a:chExt cx="10363200" cy="1955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36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10363200">
                    <a:moveTo>
                      <a:pt x="18676" y="0"/>
                    </a:moveTo>
                    <a:lnTo>
                      <a:pt x="10344524" y="0"/>
                    </a:lnTo>
                    <a:cubicBezTo>
                      <a:pt x="10354838" y="0"/>
                      <a:pt x="10363200" y="8362"/>
                      <a:pt x="10363200" y="18676"/>
                    </a:cubicBezTo>
                    <a:lnTo>
                      <a:pt x="10363200" y="1937124"/>
                    </a:lnTo>
                    <a:cubicBezTo>
                      <a:pt x="10363200" y="1947438"/>
                      <a:pt x="10354838" y="1955800"/>
                      <a:pt x="10344524" y="1955800"/>
                    </a:cubicBezTo>
                    <a:lnTo>
                      <a:pt x="18676" y="1955800"/>
                    </a:lnTo>
                    <a:cubicBezTo>
                      <a:pt x="8362" y="1955800"/>
                      <a:pt x="0" y="1947438"/>
                      <a:pt x="0" y="1937124"/>
                    </a:cubicBezTo>
                    <a:lnTo>
                      <a:pt x="0" y="18676"/>
                    </a:lnTo>
                    <a:cubicBezTo>
                      <a:pt x="0" y="8362"/>
                      <a:pt x="8362" y="0"/>
                      <a:pt x="18676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304800" y="298450"/>
              <a:ext cx="1397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714500" y="311150"/>
              <a:ext cx="83185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Price Too High is the leading recorded churn reason.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0" y="1666875"/>
            <a:ext cx="7772400" cy="1466850"/>
            <a:chOff x="0" y="0"/>
            <a:chExt cx="10363200" cy="19558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363200" cy="1955800"/>
              <a:chOff x="0" y="0"/>
              <a:chExt cx="10363200" cy="1955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36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10363200">
                    <a:moveTo>
                      <a:pt x="18676" y="0"/>
                    </a:moveTo>
                    <a:lnTo>
                      <a:pt x="10344524" y="0"/>
                    </a:lnTo>
                    <a:cubicBezTo>
                      <a:pt x="10354838" y="0"/>
                      <a:pt x="10363200" y="8362"/>
                      <a:pt x="10363200" y="18676"/>
                    </a:cubicBezTo>
                    <a:lnTo>
                      <a:pt x="10363200" y="1937124"/>
                    </a:lnTo>
                    <a:cubicBezTo>
                      <a:pt x="10363200" y="1947438"/>
                      <a:pt x="10354838" y="1955800"/>
                      <a:pt x="10344524" y="1955800"/>
                    </a:cubicBezTo>
                    <a:lnTo>
                      <a:pt x="18676" y="1955800"/>
                    </a:lnTo>
                    <a:cubicBezTo>
                      <a:pt x="8362" y="1955800"/>
                      <a:pt x="0" y="1947438"/>
                      <a:pt x="0" y="1937124"/>
                    </a:cubicBezTo>
                    <a:lnTo>
                      <a:pt x="0" y="18676"/>
                    </a:lnTo>
                    <a:cubicBezTo>
                      <a:pt x="0" y="8362"/>
                      <a:pt x="8362" y="0"/>
                      <a:pt x="18676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304800" y="298450"/>
              <a:ext cx="1397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714500" y="311150"/>
              <a:ext cx="8318500" cy="713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Organic Search is the largest customer acquisition channel with 2,395 customers.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0" y="3476625"/>
            <a:ext cx="7772400" cy="1466850"/>
            <a:chOff x="0" y="0"/>
            <a:chExt cx="10363200" cy="19558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0363200" cy="1955800"/>
              <a:chOff x="0" y="0"/>
              <a:chExt cx="10363200" cy="1955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36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10363200">
                    <a:moveTo>
                      <a:pt x="18676" y="0"/>
                    </a:moveTo>
                    <a:lnTo>
                      <a:pt x="10344524" y="0"/>
                    </a:lnTo>
                    <a:cubicBezTo>
                      <a:pt x="10354838" y="0"/>
                      <a:pt x="10363200" y="8362"/>
                      <a:pt x="10363200" y="18676"/>
                    </a:cubicBezTo>
                    <a:lnTo>
                      <a:pt x="10363200" y="1937124"/>
                    </a:lnTo>
                    <a:cubicBezTo>
                      <a:pt x="10363200" y="1947438"/>
                      <a:pt x="10354838" y="1955800"/>
                      <a:pt x="10344524" y="1955800"/>
                    </a:cubicBezTo>
                    <a:lnTo>
                      <a:pt x="18676" y="1955800"/>
                    </a:lnTo>
                    <a:cubicBezTo>
                      <a:pt x="8362" y="1955800"/>
                      <a:pt x="0" y="1947438"/>
                      <a:pt x="0" y="1937124"/>
                    </a:cubicBezTo>
                    <a:lnTo>
                      <a:pt x="0" y="18676"/>
                    </a:lnTo>
                    <a:cubicBezTo>
                      <a:pt x="0" y="8362"/>
                      <a:pt x="8362" y="0"/>
                      <a:pt x="18676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304800" y="298450"/>
              <a:ext cx="1397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714500" y="311150"/>
              <a:ext cx="83185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Average customer lifetime revenue is approximately ₹1.37 lakh.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0" y="5286375"/>
            <a:ext cx="7772400" cy="1466850"/>
            <a:chOff x="0" y="0"/>
            <a:chExt cx="10363200" cy="19558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0363200" cy="1955800"/>
              <a:chOff x="0" y="0"/>
              <a:chExt cx="10363200" cy="1955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363200" cy="1955800"/>
              </a:xfrm>
              <a:custGeom>
                <a:avLst/>
                <a:gdLst/>
                <a:ahLst/>
                <a:cxnLst/>
                <a:rect r="r" b="b" t="t" l="l"/>
                <a:pathLst>
                  <a:path h="1955800" w="10363200">
                    <a:moveTo>
                      <a:pt x="18676" y="0"/>
                    </a:moveTo>
                    <a:lnTo>
                      <a:pt x="10344524" y="0"/>
                    </a:lnTo>
                    <a:cubicBezTo>
                      <a:pt x="10354838" y="0"/>
                      <a:pt x="10363200" y="8362"/>
                      <a:pt x="10363200" y="18676"/>
                    </a:cubicBezTo>
                    <a:lnTo>
                      <a:pt x="10363200" y="1937124"/>
                    </a:lnTo>
                    <a:cubicBezTo>
                      <a:pt x="10363200" y="1947438"/>
                      <a:pt x="10354838" y="1955800"/>
                      <a:pt x="10344524" y="1955800"/>
                    </a:cubicBezTo>
                    <a:lnTo>
                      <a:pt x="18676" y="1955800"/>
                    </a:lnTo>
                    <a:cubicBezTo>
                      <a:pt x="8362" y="1955800"/>
                      <a:pt x="0" y="1947438"/>
                      <a:pt x="0" y="1937124"/>
                    </a:cubicBezTo>
                    <a:lnTo>
                      <a:pt x="0" y="18676"/>
                    </a:lnTo>
                    <a:cubicBezTo>
                      <a:pt x="0" y="8362"/>
                      <a:pt x="8362" y="0"/>
                      <a:pt x="18676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304800" y="298450"/>
              <a:ext cx="1397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48E27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07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714500" y="311150"/>
              <a:ext cx="8318500" cy="713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Financial Services has the highest average customer lifetime revenue among the analyzed industries.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9615488"/>
            <a:ext cx="16459200" cy="309562"/>
            <a:chOff x="0" y="0"/>
            <a:chExt cx="21945600" cy="412750"/>
          </a:xfrm>
        </p:grpSpPr>
        <p:sp>
          <p:nvSpPr>
            <p:cNvPr name="AutoShape 39" id="39"/>
            <p:cNvSpPr/>
            <p:nvPr/>
          </p:nvSpPr>
          <p:spPr>
            <a:xfrm>
              <a:off x="0" y="6350"/>
              <a:ext cx="21945600" cy="0"/>
            </a:xfrm>
            <a:prstGeom prst="line">
              <a:avLst/>
            </a:prstGeom>
            <a:ln cap="flat" w="12700">
              <a:solidFill>
                <a:srgbClr val="24405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0" id="40"/>
            <p:cNvSpPr txBox="true"/>
            <p:nvPr/>
          </p:nvSpPr>
          <p:spPr>
            <a:xfrm rot="0">
              <a:off x="0" y="165100"/>
              <a:ext cx="88900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spc="13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CLOUDFLOW  /  CUSTOMER INTELLIGENCE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0751800" y="165100"/>
              <a:ext cx="11938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>
                  <a:solidFill>
                    <a:srgbClr val="48E27B"/>
                  </a:solidFill>
                  <a:latin typeface="DM Sans"/>
                  <a:ea typeface="DM Sans"/>
                  <a:cs typeface="DM Sans"/>
                  <a:sym typeface="DM Sans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7620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000250"/>
            <a:ext cx="2667000" cy="857250"/>
            <a:chOff x="0" y="0"/>
            <a:chExt cx="3556000" cy="114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097643"/>
                  </a:lnTo>
                  <a:cubicBezTo>
                    <a:pt x="3556000" y="1109672"/>
                    <a:pt x="3551221" y="1121209"/>
                    <a:pt x="3542715" y="1129715"/>
                  </a:cubicBezTo>
                  <a:cubicBezTo>
                    <a:pt x="3534209" y="1138221"/>
                    <a:pt x="3522672" y="1143000"/>
                    <a:pt x="3510643" y="1143000"/>
                  </a:cubicBezTo>
                  <a:lnTo>
                    <a:pt x="45357" y="1143000"/>
                  </a:lnTo>
                  <a:cubicBezTo>
                    <a:pt x="33328" y="1143000"/>
                    <a:pt x="21791" y="1138221"/>
                    <a:pt x="13285" y="1129715"/>
                  </a:cubicBezTo>
                  <a:cubicBezTo>
                    <a:pt x="4779" y="1121209"/>
                    <a:pt x="0" y="1109672"/>
                    <a:pt x="0" y="10976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48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556000" cy="11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0711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638550" y="2428875"/>
            <a:ext cx="419100" cy="0"/>
          </a:xfrm>
          <a:prstGeom prst="line">
            <a:avLst/>
          </a:prstGeom>
          <a:ln cap="rnd" w="28575">
            <a:solidFill>
              <a:srgbClr val="48E2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191000" y="2000250"/>
            <a:ext cx="2667000" cy="857250"/>
            <a:chOff x="0" y="0"/>
            <a:chExt cx="3556000" cy="114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5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097643"/>
                  </a:lnTo>
                  <a:cubicBezTo>
                    <a:pt x="3556000" y="1109672"/>
                    <a:pt x="3551221" y="1121209"/>
                    <a:pt x="3542715" y="1129715"/>
                  </a:cubicBezTo>
                  <a:cubicBezTo>
                    <a:pt x="3534209" y="1138221"/>
                    <a:pt x="3522672" y="1143000"/>
                    <a:pt x="3510643" y="1143000"/>
                  </a:cubicBezTo>
                  <a:lnTo>
                    <a:pt x="45357" y="1143000"/>
                  </a:lnTo>
                  <a:cubicBezTo>
                    <a:pt x="33328" y="1143000"/>
                    <a:pt x="21791" y="1138221"/>
                    <a:pt x="13285" y="1129715"/>
                  </a:cubicBezTo>
                  <a:cubicBezTo>
                    <a:pt x="4779" y="1121209"/>
                    <a:pt x="0" y="1109672"/>
                    <a:pt x="0" y="10976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48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556000" cy="11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0711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CALCULATIONS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6915150" y="2428875"/>
            <a:ext cx="419100" cy="0"/>
          </a:xfrm>
          <a:prstGeom prst="line">
            <a:avLst/>
          </a:prstGeom>
          <a:ln cap="rnd" w="28575">
            <a:solidFill>
              <a:srgbClr val="48E2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467600" y="2000250"/>
            <a:ext cx="2667000" cy="857250"/>
            <a:chOff x="0" y="0"/>
            <a:chExt cx="3556000" cy="114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097643"/>
                  </a:lnTo>
                  <a:cubicBezTo>
                    <a:pt x="3556000" y="1109672"/>
                    <a:pt x="3551221" y="1121209"/>
                    <a:pt x="3542715" y="1129715"/>
                  </a:cubicBezTo>
                  <a:cubicBezTo>
                    <a:pt x="3534209" y="1138221"/>
                    <a:pt x="3522672" y="1143000"/>
                    <a:pt x="3510643" y="1143000"/>
                  </a:cubicBezTo>
                  <a:lnTo>
                    <a:pt x="45357" y="1143000"/>
                  </a:lnTo>
                  <a:cubicBezTo>
                    <a:pt x="33328" y="1143000"/>
                    <a:pt x="21791" y="1138221"/>
                    <a:pt x="13285" y="1129715"/>
                  </a:cubicBezTo>
                  <a:cubicBezTo>
                    <a:pt x="4779" y="1121209"/>
                    <a:pt x="0" y="1109672"/>
                    <a:pt x="0" y="10976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48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556000" cy="11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0711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PIVOT ANALYSIS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191750" y="2428875"/>
            <a:ext cx="419100" cy="0"/>
          </a:xfrm>
          <a:prstGeom prst="line">
            <a:avLst/>
          </a:prstGeom>
          <a:ln cap="rnd" w="28575">
            <a:solidFill>
              <a:srgbClr val="48E2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744200" y="2000250"/>
            <a:ext cx="2667000" cy="857250"/>
            <a:chOff x="0" y="0"/>
            <a:chExt cx="35560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5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097643"/>
                  </a:lnTo>
                  <a:cubicBezTo>
                    <a:pt x="3556000" y="1109672"/>
                    <a:pt x="3551221" y="1121209"/>
                    <a:pt x="3542715" y="1129715"/>
                  </a:cubicBezTo>
                  <a:cubicBezTo>
                    <a:pt x="3534209" y="1138221"/>
                    <a:pt x="3522672" y="1143000"/>
                    <a:pt x="3510643" y="1143000"/>
                  </a:cubicBezTo>
                  <a:lnTo>
                    <a:pt x="45357" y="1143000"/>
                  </a:lnTo>
                  <a:cubicBezTo>
                    <a:pt x="33328" y="1143000"/>
                    <a:pt x="21791" y="1138221"/>
                    <a:pt x="13285" y="1129715"/>
                  </a:cubicBezTo>
                  <a:cubicBezTo>
                    <a:pt x="4779" y="1121209"/>
                    <a:pt x="0" y="1109672"/>
                    <a:pt x="0" y="10976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48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556000" cy="11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0711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DASHBOARD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3468350" y="2428875"/>
            <a:ext cx="419100" cy="0"/>
          </a:xfrm>
          <a:prstGeom prst="line">
            <a:avLst/>
          </a:prstGeom>
          <a:ln cap="rnd" w="28575">
            <a:solidFill>
              <a:srgbClr val="48E27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4020800" y="2000250"/>
            <a:ext cx="2667000" cy="857250"/>
            <a:chOff x="0" y="0"/>
            <a:chExt cx="3556000" cy="114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5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556000">
                  <a:moveTo>
                    <a:pt x="45357" y="0"/>
                  </a:moveTo>
                  <a:lnTo>
                    <a:pt x="3510643" y="0"/>
                  </a:lnTo>
                  <a:cubicBezTo>
                    <a:pt x="3522672" y="0"/>
                    <a:pt x="3534209" y="4779"/>
                    <a:pt x="3542715" y="13285"/>
                  </a:cubicBezTo>
                  <a:cubicBezTo>
                    <a:pt x="3551221" y="21791"/>
                    <a:pt x="3556000" y="33328"/>
                    <a:pt x="3556000" y="45357"/>
                  </a:cubicBezTo>
                  <a:lnTo>
                    <a:pt x="3556000" y="1097643"/>
                  </a:lnTo>
                  <a:cubicBezTo>
                    <a:pt x="3556000" y="1109672"/>
                    <a:pt x="3551221" y="1121209"/>
                    <a:pt x="3542715" y="1129715"/>
                  </a:cubicBezTo>
                  <a:cubicBezTo>
                    <a:pt x="3534209" y="1138221"/>
                    <a:pt x="3522672" y="1143000"/>
                    <a:pt x="3510643" y="1143000"/>
                  </a:cubicBezTo>
                  <a:lnTo>
                    <a:pt x="45357" y="1143000"/>
                  </a:lnTo>
                  <a:cubicBezTo>
                    <a:pt x="33328" y="1143000"/>
                    <a:pt x="21791" y="1138221"/>
                    <a:pt x="13285" y="1129715"/>
                  </a:cubicBezTo>
                  <a:cubicBezTo>
                    <a:pt x="4779" y="1121209"/>
                    <a:pt x="0" y="1109672"/>
                    <a:pt x="0" y="1097643"/>
                  </a:cubicBezTo>
                  <a:lnTo>
                    <a:pt x="0" y="45357"/>
                  </a:lnTo>
                  <a:cubicBezTo>
                    <a:pt x="0" y="33328"/>
                    <a:pt x="4779" y="21791"/>
                    <a:pt x="13285" y="13285"/>
                  </a:cubicBezTo>
                  <a:cubicBezTo>
                    <a:pt x="21791" y="4779"/>
                    <a:pt x="33328" y="0"/>
                    <a:pt x="45357" y="0"/>
                  </a:cubicBezTo>
                  <a:close/>
                </a:path>
              </a:pathLst>
            </a:custGeom>
            <a:solidFill>
              <a:srgbClr val="48E27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556000" cy="11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350" b="true">
                  <a:solidFill>
                    <a:srgbClr val="07111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BUSINESS INSIGHTS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3905250"/>
            <a:ext cx="2667000" cy="1000125"/>
            <a:chOff x="0" y="0"/>
            <a:chExt cx="3556000" cy="13335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3556000" cy="1333500"/>
              <a:chOff x="0" y="0"/>
              <a:chExt cx="3556000" cy="13335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556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3556000">
                    <a:moveTo>
                      <a:pt x="54429" y="0"/>
                    </a:moveTo>
                    <a:lnTo>
                      <a:pt x="3501572" y="0"/>
                    </a:lnTo>
                    <a:cubicBezTo>
                      <a:pt x="3531631" y="0"/>
                      <a:pt x="3556000" y="24369"/>
                      <a:pt x="3556000" y="54429"/>
                    </a:cubicBezTo>
                    <a:lnTo>
                      <a:pt x="3556000" y="1279071"/>
                    </a:lnTo>
                    <a:cubicBezTo>
                      <a:pt x="3556000" y="1309132"/>
                      <a:pt x="3531631" y="1333500"/>
                      <a:pt x="3501572" y="1333500"/>
                    </a:cubicBezTo>
                    <a:lnTo>
                      <a:pt x="54429" y="1333500"/>
                    </a:lnTo>
                    <a:cubicBezTo>
                      <a:pt x="24369" y="1333500"/>
                      <a:pt x="0" y="1309132"/>
                      <a:pt x="0" y="1279071"/>
                    </a:cubicBezTo>
                    <a:lnTo>
                      <a:pt x="0" y="54429"/>
                    </a:lnTo>
                    <a:cubicBezTo>
                      <a:pt x="0" y="24369"/>
                      <a:pt x="24369" y="0"/>
                      <a:pt x="54429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203200" y="342900"/>
              <a:ext cx="31496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Preparation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191000" y="3905250"/>
            <a:ext cx="2667000" cy="1000125"/>
            <a:chOff x="0" y="0"/>
            <a:chExt cx="3556000" cy="13335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556000" cy="1333500"/>
              <a:chOff x="0" y="0"/>
              <a:chExt cx="3556000" cy="13335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556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3556000">
                    <a:moveTo>
                      <a:pt x="54429" y="0"/>
                    </a:moveTo>
                    <a:lnTo>
                      <a:pt x="3501572" y="0"/>
                    </a:lnTo>
                    <a:cubicBezTo>
                      <a:pt x="3531631" y="0"/>
                      <a:pt x="3556000" y="24369"/>
                      <a:pt x="3556000" y="54429"/>
                    </a:cubicBezTo>
                    <a:lnTo>
                      <a:pt x="3556000" y="1279071"/>
                    </a:lnTo>
                    <a:cubicBezTo>
                      <a:pt x="3556000" y="1309132"/>
                      <a:pt x="3531631" y="1333500"/>
                      <a:pt x="3501572" y="1333500"/>
                    </a:cubicBezTo>
                    <a:lnTo>
                      <a:pt x="54429" y="1333500"/>
                    </a:lnTo>
                    <a:cubicBezTo>
                      <a:pt x="24369" y="1333500"/>
                      <a:pt x="0" y="1309132"/>
                      <a:pt x="0" y="1279071"/>
                    </a:cubicBezTo>
                    <a:lnTo>
                      <a:pt x="0" y="54429"/>
                    </a:lnTo>
                    <a:cubicBezTo>
                      <a:pt x="0" y="24369"/>
                      <a:pt x="24369" y="0"/>
                      <a:pt x="54429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203200" y="342900"/>
              <a:ext cx="31496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Calculated Columns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467600" y="3905250"/>
            <a:ext cx="2667000" cy="1000125"/>
            <a:chOff x="0" y="0"/>
            <a:chExt cx="3556000" cy="13335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3556000" cy="1333500"/>
              <a:chOff x="0" y="0"/>
              <a:chExt cx="3556000" cy="1333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3556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3556000">
                    <a:moveTo>
                      <a:pt x="54429" y="0"/>
                    </a:moveTo>
                    <a:lnTo>
                      <a:pt x="3501572" y="0"/>
                    </a:lnTo>
                    <a:cubicBezTo>
                      <a:pt x="3531631" y="0"/>
                      <a:pt x="3556000" y="24369"/>
                      <a:pt x="3556000" y="54429"/>
                    </a:cubicBezTo>
                    <a:lnTo>
                      <a:pt x="3556000" y="1279071"/>
                    </a:lnTo>
                    <a:cubicBezTo>
                      <a:pt x="3556000" y="1309132"/>
                      <a:pt x="3531631" y="1333500"/>
                      <a:pt x="3501572" y="1333500"/>
                    </a:cubicBezTo>
                    <a:lnTo>
                      <a:pt x="54429" y="1333500"/>
                    </a:lnTo>
                    <a:cubicBezTo>
                      <a:pt x="24369" y="1333500"/>
                      <a:pt x="0" y="1309132"/>
                      <a:pt x="0" y="1279071"/>
                    </a:cubicBezTo>
                    <a:lnTo>
                      <a:pt x="0" y="54429"/>
                    </a:lnTo>
                    <a:cubicBezTo>
                      <a:pt x="0" y="24369"/>
                      <a:pt x="24369" y="0"/>
                      <a:pt x="54429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203200" y="361950"/>
              <a:ext cx="3149600" cy="300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en-US" sz="1425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PivotTables &amp; PivotCharts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44200" y="3905250"/>
            <a:ext cx="2667000" cy="1000125"/>
            <a:chOff x="0" y="0"/>
            <a:chExt cx="3556000" cy="13335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3556000" cy="1333500"/>
              <a:chOff x="0" y="0"/>
              <a:chExt cx="3556000" cy="13335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3556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3556000">
                    <a:moveTo>
                      <a:pt x="54429" y="0"/>
                    </a:moveTo>
                    <a:lnTo>
                      <a:pt x="3501572" y="0"/>
                    </a:lnTo>
                    <a:cubicBezTo>
                      <a:pt x="3531631" y="0"/>
                      <a:pt x="3556000" y="24369"/>
                      <a:pt x="3556000" y="54429"/>
                    </a:cubicBezTo>
                    <a:lnTo>
                      <a:pt x="3556000" y="1279071"/>
                    </a:lnTo>
                    <a:cubicBezTo>
                      <a:pt x="3556000" y="1309132"/>
                      <a:pt x="3531631" y="1333500"/>
                      <a:pt x="3501572" y="1333500"/>
                    </a:cubicBezTo>
                    <a:lnTo>
                      <a:pt x="54429" y="1333500"/>
                    </a:lnTo>
                    <a:cubicBezTo>
                      <a:pt x="24369" y="1333500"/>
                      <a:pt x="0" y="1309132"/>
                      <a:pt x="0" y="1279071"/>
                    </a:cubicBezTo>
                    <a:lnTo>
                      <a:pt x="0" y="54429"/>
                    </a:lnTo>
                    <a:cubicBezTo>
                      <a:pt x="0" y="24369"/>
                      <a:pt x="24369" y="0"/>
                      <a:pt x="54429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203200" y="342900"/>
              <a:ext cx="31496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Analysis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020800" y="3905250"/>
            <a:ext cx="2667000" cy="1000125"/>
            <a:chOff x="0" y="0"/>
            <a:chExt cx="3556000" cy="13335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3556000" cy="1333500"/>
              <a:chOff x="0" y="0"/>
              <a:chExt cx="3556000" cy="13335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556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3556000">
                    <a:moveTo>
                      <a:pt x="54429" y="0"/>
                    </a:moveTo>
                    <a:lnTo>
                      <a:pt x="3501572" y="0"/>
                    </a:lnTo>
                    <a:cubicBezTo>
                      <a:pt x="3531631" y="0"/>
                      <a:pt x="3556000" y="24369"/>
                      <a:pt x="3556000" y="54429"/>
                    </a:cubicBezTo>
                    <a:lnTo>
                      <a:pt x="3556000" y="1279071"/>
                    </a:lnTo>
                    <a:cubicBezTo>
                      <a:pt x="3556000" y="1309132"/>
                      <a:pt x="3531631" y="1333500"/>
                      <a:pt x="3501572" y="1333500"/>
                    </a:cubicBezTo>
                    <a:lnTo>
                      <a:pt x="54429" y="1333500"/>
                    </a:lnTo>
                    <a:cubicBezTo>
                      <a:pt x="24369" y="1333500"/>
                      <a:pt x="0" y="1309132"/>
                      <a:pt x="0" y="1279071"/>
                    </a:cubicBezTo>
                    <a:lnTo>
                      <a:pt x="0" y="54429"/>
                    </a:lnTo>
                    <a:cubicBezTo>
                      <a:pt x="0" y="24369"/>
                      <a:pt x="24369" y="0"/>
                      <a:pt x="54429" y="0"/>
                    </a:cubicBezTo>
                    <a:close/>
                  </a:path>
                </a:pathLst>
              </a:custGeom>
              <a:solidFill>
                <a:srgbClr val="101F31"/>
              </a:solidFill>
              <a:ln w="9525" cap="sq">
                <a:solidFill>
                  <a:srgbClr val="24405A"/>
                </a:solidFill>
                <a:prstDash val="solid"/>
                <a:miter/>
              </a:ln>
            </p:spPr>
          </p:sp>
        </p:grpSp>
        <p:sp>
          <p:nvSpPr>
            <p:cNvPr name="TextBox 41" id="41"/>
            <p:cNvSpPr txBox="true"/>
            <p:nvPr/>
          </p:nvSpPr>
          <p:spPr>
            <a:xfrm rot="0">
              <a:off x="203200" y="352425"/>
              <a:ext cx="3149600" cy="277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84"/>
                </a:lnSpc>
              </a:pPr>
              <a:r>
                <a:rPr lang="en-US" sz="1275" b="tru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Interactive Dashboard Design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444201" y="6248400"/>
            <a:ext cx="4713798" cy="1112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33"/>
              </a:lnSpc>
            </a:pPr>
            <a:r>
              <a:rPr lang="en-US" sz="6524" b="true">
                <a:solidFill>
                  <a:srgbClr val="48E2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14400" y="9615488"/>
            <a:ext cx="16459200" cy="309562"/>
            <a:chOff x="0" y="0"/>
            <a:chExt cx="21945600" cy="412750"/>
          </a:xfrm>
        </p:grpSpPr>
        <p:sp>
          <p:nvSpPr>
            <p:cNvPr name="AutoShape 44" id="44"/>
            <p:cNvSpPr/>
            <p:nvPr/>
          </p:nvSpPr>
          <p:spPr>
            <a:xfrm>
              <a:off x="0" y="6350"/>
              <a:ext cx="21945600" cy="0"/>
            </a:xfrm>
            <a:prstGeom prst="line">
              <a:avLst/>
            </a:prstGeom>
            <a:ln cap="flat" w="12700">
              <a:solidFill>
                <a:srgbClr val="24405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5" id="45"/>
            <p:cNvSpPr txBox="true"/>
            <p:nvPr/>
          </p:nvSpPr>
          <p:spPr>
            <a:xfrm rot="0">
              <a:off x="0" y="165100"/>
              <a:ext cx="88900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4"/>
                </a:lnSpc>
              </a:pPr>
              <a:r>
                <a:rPr lang="en-US" sz="1125" spc="135">
                  <a:solidFill>
                    <a:srgbClr val="9AA8B8"/>
                  </a:solidFill>
                  <a:latin typeface="DM Sans"/>
                  <a:ea typeface="DM Sans"/>
                  <a:cs typeface="DM Sans"/>
                  <a:sym typeface="DM Sans"/>
                </a:rPr>
                <a:t>CLOUDFLOW  /  CUSTOMER INTELLIGENCE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20751800" y="165100"/>
              <a:ext cx="11938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74"/>
                </a:lnSpc>
              </a:pPr>
              <a:r>
                <a:rPr lang="en-US" sz="1125">
                  <a:solidFill>
                    <a:srgbClr val="48E27B"/>
                  </a:solidFill>
                  <a:latin typeface="DM Sans"/>
                  <a:ea typeface="DM Sans"/>
                  <a:cs typeface="DM Sans"/>
                  <a:sym typeface="DM Sans"/>
                </a:rPr>
                <a:t>12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DAHVzPhWY7s</dc:identifier>
  <dcterms:modified xsi:type="dcterms:W3CDTF">2011-08-01T06:04:30Z</dcterms:modified>
  <cp:revision>1</cp:revision>
  <dc:title>CloudFlow Customer Intelligence</dc:title>
</cp:coreProperties>
</file>